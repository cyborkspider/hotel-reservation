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324" r:id="rId5"/>
    <p:sldId id="304" r:id="rId6"/>
    <p:sldId id="315" r:id="rId7"/>
    <p:sldId id="302" r:id="rId8"/>
    <p:sldId id="334" r:id="rId9"/>
    <p:sldId id="327" r:id="rId10"/>
    <p:sldId id="328" r:id="rId11"/>
    <p:sldId id="335" r:id="rId12"/>
    <p:sldId id="329" r:id="rId13"/>
    <p:sldId id="330" r:id="rId14"/>
    <p:sldId id="336" r:id="rId15"/>
    <p:sldId id="331" r:id="rId16"/>
    <p:sldId id="337" r:id="rId17"/>
    <p:sldId id="338" r:id="rId18"/>
    <p:sldId id="339" r:id="rId19"/>
    <p:sldId id="313" r:id="rId20"/>
    <p:sldId id="32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6F1A"/>
    <a:srgbClr val="F2F2F2"/>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p:cViewPr>
        <p:scale>
          <a:sx n="100" d="100"/>
          <a:sy n="100" d="100"/>
        </p:scale>
        <p:origin x="186" y="11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5/2/2026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5/2/2026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1</a:t>
            </a:fld>
            <a:endParaRPr lang="en-US" noProof="0" dirty="0"/>
          </a:p>
        </p:txBody>
      </p:sp>
    </p:spTree>
    <p:extLst>
      <p:ext uri="{BB962C8B-B14F-4D97-AF65-F5344CB8AC3E}">
        <p14:creationId xmlns:p14="http://schemas.microsoft.com/office/powerpoint/2010/main" val="36442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4</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56DC-2A03-5906-D329-80FB0A186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9D390-6735-66FA-DCF5-82D368862D8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5E56D7-EE2D-9513-95BB-0DA3E8384B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5803FD-55DA-AABE-A698-B2313A5EAD40}"/>
              </a:ext>
            </a:extLst>
          </p:cNvPr>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1035937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anchor="b"/>
          <a:lstStyle>
            <a:lvl1pPr algn="r">
              <a:buNone/>
              <a:defRPr lang="en-US" sz="1600" kern="1200" dirty="0" smtClean="0">
                <a:solidFill>
                  <a:schemeClr val="bg1"/>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7814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tx1"/>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a:lstStyle>
            <a:lvl1pPr algn="ctr">
              <a:spcBef>
                <a:spcPts val="1000"/>
              </a:spcBef>
              <a:defRPr sz="2800">
                <a:solidFill>
                  <a:schemeClr val="bg1"/>
                </a:solidFill>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68632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anchor="ctr"/>
          <a:lstStyle>
            <a:lvl1pPr algn="ct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8270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a:lstStyle>
            <a:lvl1pPr marL="0" indent="0">
              <a:buNone/>
              <a:defRPr sz="2000"/>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a:r>
              <a:rPr lang="en-US"/>
              <a:t>Click to edit Master text styles</a:t>
            </a:r>
          </a:p>
          <a:p>
            <a:pPr lvl="1"/>
            <a:r>
              <a:rPr lang="en-US"/>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A1AD702D-965C-40E9-8D23-D82E2CFA9E61}"/>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5/2/2026</a:t>
            </a:fld>
            <a:endParaRPr lang="en-US" sz="1100" dirty="0">
              <a:solidFill>
                <a:schemeClr val="accent2"/>
              </a:solidFill>
            </a:endParaRPr>
          </a:p>
        </p:txBody>
      </p:sp>
      <p:sp>
        <p:nvSpPr>
          <p:cNvPr id="5" name="Footer Placeholder 4">
            <a:extLst>
              <a:ext uri="{FF2B5EF4-FFF2-40B4-BE49-F238E27FC236}">
                <a16:creationId xmlns:a16="http://schemas.microsoft.com/office/drawing/2014/main" id="{793E0959-6855-4447-BAEC-D32B47712F07}"/>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7" name="Slide Number Placeholder 5">
            <a:extLst>
              <a:ext uri="{FF2B5EF4-FFF2-40B4-BE49-F238E27FC236}">
                <a16:creationId xmlns:a16="http://schemas.microsoft.com/office/drawing/2014/main" id="{13A05B6A-9124-4DBB-843A-84818A8F79FC}"/>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88" r:id="rId3"/>
    <p:sldLayoutId id="2147483681" r:id="rId4"/>
    <p:sldLayoutId id="2147483680" r:id="rId5"/>
    <p:sldLayoutId id="2147483682" r:id="rId6"/>
    <p:sldLayoutId id="2147483677" r:id="rId7"/>
    <p:sldLayoutId id="2147483654" r:id="rId8"/>
    <p:sldLayoutId id="2147483685" r:id="rId9"/>
    <p:sldLayoutId id="2147483684" r:id="rId10"/>
    <p:sldLayoutId id="2147483686" r:id="rId11"/>
    <p:sldLayoutId id="2147483687" r:id="rId12"/>
    <p:sldLayoutId id="2147483675" r:id="rId13"/>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www.linkedin.com/in/ziad-elgohary4?utm_source=share&amp;utm_campaign=share_via&amp;utm_content=profile&amp;utm_medium=android_app" TargetMode="External"/><Relationship Id="rId2" Type="http://schemas.openxmlformats.org/officeDocument/2006/relationships/image" Target="../media/image18.png"/><Relationship Id="rId1" Type="http://schemas.openxmlformats.org/officeDocument/2006/relationships/slideLayout" Target="../slideLayouts/slideLayout13.xml"/><Relationship Id="rId5" Type="http://schemas.openxmlformats.org/officeDocument/2006/relationships/hyperlink" Target="https://www.linkedin.com/in/omar-bahnasy-dataanalyst?utm_source=share&amp;utm_campaign=share_via&amp;utm_content=profile&amp;utm_medium=android_app" TargetMode="Externa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10"/>
          </p:nvPr>
        </p:nvPicPr>
        <p:blipFill>
          <a:blip r:embed="rId3">
            <a:alphaModFix amt="80000"/>
          </a:blip>
          <a:srcRect t="7802" b="7802"/>
          <a:stretch/>
        </p:blipFill>
        <p:spPr>
          <a:xfrm>
            <a:off x="0" y="0"/>
            <a:ext cx="12192000" cy="6858000"/>
          </a:xfrm>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6" name="Hexagon 5">
            <a:extLst>
              <a:ext uri="{FF2B5EF4-FFF2-40B4-BE49-F238E27FC236}">
                <a16:creationId xmlns:a16="http://schemas.microsoft.com/office/drawing/2014/main" id="{38AF5374-EA50-4722-BB45-6C182E5A16AE}"/>
              </a:ext>
              <a:ext uri="{C183D7F6-B498-43B3-948B-1728B52AA6E4}">
                <adec:decorative xmlns:adec="http://schemas.microsoft.com/office/drawing/2017/decorative" val="1"/>
              </a:ext>
            </a:extLst>
          </p:cNvPr>
          <p:cNvSpPr/>
          <p:nvPr/>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4096846" y="2576760"/>
            <a:ext cx="4073101" cy="2020611"/>
          </a:xfrm>
        </p:spPr>
        <p:txBody>
          <a:bodyPr/>
          <a:lstStyle/>
          <a:p>
            <a:pPr algn="ctr"/>
            <a:r>
              <a:rPr lang="en-US" sz="4800" dirty="0"/>
              <a:t>Hotel Reservation</a:t>
            </a:r>
            <a:br>
              <a:rPr lang="en-US" sz="4800" dirty="0"/>
            </a:br>
            <a:r>
              <a:rPr lang="en-US" sz="4800" dirty="0"/>
              <a:t>System</a:t>
            </a:r>
            <a:endParaRPr lang="en-US" dirty="0"/>
          </a:p>
        </p:txBody>
      </p:sp>
      <p:sp>
        <p:nvSpPr>
          <p:cNvPr id="8" name="Text Placeholder 7">
            <a:extLst>
              <a:ext uri="{FF2B5EF4-FFF2-40B4-BE49-F238E27FC236}">
                <a16:creationId xmlns:a16="http://schemas.microsoft.com/office/drawing/2014/main" id="{9FFAF4E3-C8A2-4861-A67E-040D885F84F1}"/>
              </a:ext>
            </a:extLst>
          </p:cNvPr>
          <p:cNvSpPr>
            <a:spLocks noGrp="1"/>
          </p:cNvSpPr>
          <p:nvPr>
            <p:ph type="body" sz="quarter" idx="11"/>
          </p:nvPr>
        </p:nvSpPr>
        <p:spPr/>
        <p:txBody>
          <a:bodyPr/>
          <a:lstStyle/>
          <a:p>
            <a:r>
              <a:rPr lang="en-US" dirty="0"/>
              <a:t>Project</a:t>
            </a:r>
          </a:p>
        </p:txBody>
      </p:sp>
      <p:sp>
        <p:nvSpPr>
          <p:cNvPr id="11" name="Text Placeholder 10">
            <a:extLst>
              <a:ext uri="{FF2B5EF4-FFF2-40B4-BE49-F238E27FC236}">
                <a16:creationId xmlns:a16="http://schemas.microsoft.com/office/drawing/2014/main" id="{E6DF5064-7AAC-4887-9BD5-FB6BC40A6768}"/>
              </a:ext>
            </a:extLst>
          </p:cNvPr>
          <p:cNvSpPr>
            <a:spLocks noGrp="1"/>
          </p:cNvSpPr>
          <p:nvPr>
            <p:ph type="body" sz="quarter" idx="13"/>
          </p:nvPr>
        </p:nvSpPr>
        <p:spPr>
          <a:xfrm>
            <a:off x="3948679" y="4691679"/>
            <a:ext cx="4221268" cy="1168530"/>
          </a:xfrm>
        </p:spPr>
        <p:txBody>
          <a:bodyPr/>
          <a:lstStyle/>
          <a:p>
            <a:pPr algn="ctr"/>
            <a:r>
              <a:rPr lang="en-US" sz="2000" b="1" dirty="0"/>
              <a:t>Faculty of Information &amp; Computers</a:t>
            </a:r>
          </a:p>
          <a:p>
            <a:pPr algn="ctr"/>
            <a:r>
              <a:rPr lang="en-US" sz="2000" b="1" dirty="0"/>
              <a:t>AI Department</a:t>
            </a:r>
          </a:p>
        </p:txBody>
      </p:sp>
      <p:sp>
        <p:nvSpPr>
          <p:cNvPr id="21" name="Hexagon 20">
            <a:extLst>
              <a:ext uri="{FF2B5EF4-FFF2-40B4-BE49-F238E27FC236}">
                <a16:creationId xmlns:a16="http://schemas.microsoft.com/office/drawing/2014/main" id="{35FAA64B-9D7A-4109-97E0-B0BAA29C475F}"/>
              </a:ext>
              <a:ext uri="{C183D7F6-B498-43B3-948B-1728B52AA6E4}">
                <adec:decorative xmlns:adec="http://schemas.microsoft.com/office/drawing/2017/decorative" val="1"/>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00A0E61B-8139-47E5-862B-C6D87AFF35A2}"/>
              </a:ext>
              <a:ext uri="{C183D7F6-B498-43B3-948B-1728B52AA6E4}">
                <adec:decorative xmlns:adec="http://schemas.microsoft.com/office/drawing/2017/decorative" val="1"/>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B06F39E4-24A5-44F2-BD9A-7E8C8AF2773B}"/>
              </a:ext>
              <a:ext uri="{C183D7F6-B498-43B3-948B-1728B52AA6E4}">
                <adec:decorative xmlns:adec="http://schemas.microsoft.com/office/drawing/2017/decorative" val="1"/>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Hexagon 1">
            <a:extLst>
              <a:ext uri="{FF2B5EF4-FFF2-40B4-BE49-F238E27FC236}">
                <a16:creationId xmlns:a16="http://schemas.microsoft.com/office/drawing/2014/main" id="{62F7433A-0BB9-4B38-A96F-AB1B77772B59}"/>
              </a:ext>
              <a:ext uri="{C183D7F6-B498-43B3-948B-1728B52AA6E4}">
                <adec:decorative xmlns:adec="http://schemas.microsoft.com/office/drawing/2017/decorative" val="1"/>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599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lstStyle/>
          <a:p>
            <a:pPr algn="ctr"/>
            <a:r>
              <a:rPr lang="en-US" sz="4800" b="1" dirty="0">
                <a:solidFill>
                  <a:schemeClr val="tx1"/>
                </a:solidFill>
              </a:rPr>
              <a:t>Team</a:t>
            </a:r>
          </a:p>
        </p:txBody>
      </p:sp>
      <p:pic>
        <p:nvPicPr>
          <p:cNvPr id="46" name="Picture Placeholder 45">
            <a:extLst>
              <a:ext uri="{FF2B5EF4-FFF2-40B4-BE49-F238E27FC236}">
                <a16:creationId xmlns:a16="http://schemas.microsoft.com/office/drawing/2014/main" id="{BBCAE79E-A970-4D29-9B36-494E5FA58585}"/>
              </a:ext>
            </a:extLst>
          </p:cNvPr>
          <p:cNvPicPr>
            <a:picLocks noGrp="1" noChangeAspect="1"/>
          </p:cNvPicPr>
          <p:nvPr>
            <p:ph type="pic" sz="quarter" idx="20"/>
          </p:nvPr>
        </p:nvPicPr>
        <p:blipFill>
          <a:blip r:embed="rId2"/>
          <a:srcRect t="23445" b="11899"/>
          <a:stretch>
            <a:fillRect/>
          </a:stretch>
        </p:blipFill>
        <p:spPr>
          <a:xfrm>
            <a:off x="2078487" y="2555551"/>
            <a:ext cx="1484985" cy="1280160"/>
          </a:xfrm>
        </p:spPr>
      </p:pic>
      <p:sp>
        <p:nvSpPr>
          <p:cNvPr id="25" name="Text Placeholder 24">
            <a:extLst>
              <a:ext uri="{FF2B5EF4-FFF2-40B4-BE49-F238E27FC236}">
                <a16:creationId xmlns:a16="http://schemas.microsoft.com/office/drawing/2014/main" id="{BCA14AB3-F8C5-4601-B349-EC1B8C7B603A}"/>
              </a:ext>
            </a:extLst>
          </p:cNvPr>
          <p:cNvSpPr>
            <a:spLocks noGrp="1"/>
          </p:cNvSpPr>
          <p:nvPr>
            <p:ph type="body" sz="quarter" idx="10"/>
          </p:nvPr>
        </p:nvSpPr>
        <p:spPr>
          <a:xfrm>
            <a:off x="1746818" y="4172761"/>
            <a:ext cx="2139696" cy="700114"/>
          </a:xfrm>
        </p:spPr>
        <p:txBody>
          <a:bodyPr/>
          <a:lstStyle/>
          <a:p>
            <a:r>
              <a:rPr lang="en-US" dirty="0"/>
              <a:t>Ziad</a:t>
            </a:r>
          </a:p>
          <a:p>
            <a:r>
              <a:rPr lang="en-US" dirty="0"/>
              <a:t>Elgohary</a:t>
            </a:r>
          </a:p>
        </p:txBody>
      </p:sp>
      <p:pic>
        <p:nvPicPr>
          <p:cNvPr id="48" name="Picture Placeholder 47">
            <a:extLst>
              <a:ext uri="{FF2B5EF4-FFF2-40B4-BE49-F238E27FC236}">
                <a16:creationId xmlns:a16="http://schemas.microsoft.com/office/drawing/2014/main" id="{3DA3586E-5B97-49E4-B090-AD9D2A9C4F80}"/>
              </a:ext>
            </a:extLst>
          </p:cNvPr>
          <p:cNvPicPr>
            <a:picLocks noGrp="1" noChangeAspect="1"/>
          </p:cNvPicPr>
          <p:nvPr>
            <p:ph type="pic" sz="quarter" idx="21"/>
          </p:nvPr>
        </p:nvPicPr>
        <p:blipFill>
          <a:blip r:embed="rId3"/>
          <a:srcRect l="-766" t="22001" r="766" b="13343"/>
          <a:stretch>
            <a:fillRect/>
          </a:stretch>
        </p:blipFill>
        <p:spPr>
          <a:xfrm>
            <a:off x="4316071" y="2555551"/>
            <a:ext cx="1484985" cy="1280160"/>
          </a:xfrm>
        </p:spPr>
      </p:pic>
      <p:sp>
        <p:nvSpPr>
          <p:cNvPr id="29" name="Text Placeholder 28">
            <a:extLst>
              <a:ext uri="{FF2B5EF4-FFF2-40B4-BE49-F238E27FC236}">
                <a16:creationId xmlns:a16="http://schemas.microsoft.com/office/drawing/2014/main" id="{E83F2E96-9C2D-4D1E-96F8-93A9DB1304A0}"/>
              </a:ext>
            </a:extLst>
          </p:cNvPr>
          <p:cNvSpPr>
            <a:spLocks noGrp="1"/>
          </p:cNvSpPr>
          <p:nvPr>
            <p:ph type="body" sz="quarter" idx="12"/>
          </p:nvPr>
        </p:nvSpPr>
        <p:spPr>
          <a:xfrm>
            <a:off x="3989632" y="4172761"/>
            <a:ext cx="2139696" cy="700114"/>
          </a:xfrm>
        </p:spPr>
        <p:txBody>
          <a:bodyPr/>
          <a:lstStyle/>
          <a:p>
            <a:r>
              <a:rPr lang="en-US" dirty="0"/>
              <a:t>Omar</a:t>
            </a:r>
          </a:p>
          <a:p>
            <a:r>
              <a:rPr lang="en-US" dirty="0"/>
              <a:t>Bahnasy</a:t>
            </a:r>
          </a:p>
        </p:txBody>
      </p:sp>
      <p:pic>
        <p:nvPicPr>
          <p:cNvPr id="50" name="Picture Placeholder 49">
            <a:extLst>
              <a:ext uri="{FF2B5EF4-FFF2-40B4-BE49-F238E27FC236}">
                <a16:creationId xmlns:a16="http://schemas.microsoft.com/office/drawing/2014/main" id="{EC2CC961-DBF2-4A0D-A6B3-7A630D18573F}"/>
              </a:ext>
            </a:extLst>
          </p:cNvPr>
          <p:cNvPicPr>
            <a:picLocks noGrp="1" noChangeAspect="1"/>
          </p:cNvPicPr>
          <p:nvPr>
            <p:ph type="pic" sz="quarter" idx="22"/>
          </p:nvPr>
        </p:nvPicPr>
        <p:blipFill>
          <a:blip r:embed="rId4"/>
          <a:srcRect l="-766" r="766" b="13882"/>
          <a:stretch>
            <a:fillRect/>
          </a:stretch>
        </p:blipFill>
        <p:spPr>
          <a:xfrm>
            <a:off x="6553658" y="2555551"/>
            <a:ext cx="1484985" cy="1280160"/>
          </a:xfrm>
        </p:spPr>
      </p:pic>
      <p:sp>
        <p:nvSpPr>
          <p:cNvPr id="33" name="Text Placeholder 32">
            <a:extLst>
              <a:ext uri="{FF2B5EF4-FFF2-40B4-BE49-F238E27FC236}">
                <a16:creationId xmlns:a16="http://schemas.microsoft.com/office/drawing/2014/main" id="{2F15E5CC-C708-41FE-A7A3-053E1BC87F4F}"/>
              </a:ext>
            </a:extLst>
          </p:cNvPr>
          <p:cNvSpPr>
            <a:spLocks noGrp="1"/>
          </p:cNvSpPr>
          <p:nvPr>
            <p:ph type="body" sz="quarter" idx="14"/>
          </p:nvPr>
        </p:nvSpPr>
        <p:spPr>
          <a:xfrm>
            <a:off x="6232446" y="4172761"/>
            <a:ext cx="2139696" cy="700112"/>
          </a:xfrm>
        </p:spPr>
        <p:txBody>
          <a:bodyPr/>
          <a:lstStyle/>
          <a:p>
            <a:r>
              <a:rPr lang="en-US" dirty="0"/>
              <a:t>Ebrahim</a:t>
            </a:r>
          </a:p>
          <a:p>
            <a:r>
              <a:rPr lang="en-US" dirty="0"/>
              <a:t>Elsaeed</a:t>
            </a:r>
          </a:p>
        </p:txBody>
      </p:sp>
      <p:sp>
        <p:nvSpPr>
          <p:cNvPr id="2" name="Rectangle 1">
            <a:extLst>
              <a:ext uri="{FF2B5EF4-FFF2-40B4-BE49-F238E27FC236}">
                <a16:creationId xmlns:a16="http://schemas.microsoft.com/office/drawing/2014/main" id="{FBE112C5-8020-F527-E9CB-BB228FDFA44E}"/>
              </a:ext>
            </a:extLst>
          </p:cNvPr>
          <p:cNvSpPr/>
          <p:nvPr/>
        </p:nvSpPr>
        <p:spPr>
          <a:xfrm>
            <a:off x="432000" y="6257925"/>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DAEAECD-5FC6-5149-6E99-22E09B8B2D2F}"/>
              </a:ext>
            </a:extLst>
          </p:cNvPr>
          <p:cNvSpPr txBox="1"/>
          <p:nvPr/>
        </p:nvSpPr>
        <p:spPr>
          <a:xfrm>
            <a:off x="2790825" y="5983549"/>
            <a:ext cx="5722993" cy="677108"/>
          </a:xfrm>
          <a:prstGeom prst="rect">
            <a:avLst/>
          </a:prstGeom>
          <a:noFill/>
        </p:spPr>
        <p:txBody>
          <a:bodyPr wrap="square" rtlCol="0">
            <a:spAutoFit/>
          </a:bodyPr>
          <a:lstStyle/>
          <a:p>
            <a:pPr algn="ctr"/>
            <a:r>
              <a:rPr lang="en-US" sz="2000" b="1" dirty="0"/>
              <a:t>Supervision</a:t>
            </a:r>
            <a:endParaRPr lang="ar-EG" sz="2000" b="1" dirty="0"/>
          </a:p>
          <a:p>
            <a:pPr algn="ctr"/>
            <a:r>
              <a:rPr lang="en-US" b="1" dirty="0">
                <a:solidFill>
                  <a:srgbClr val="FA6F1A"/>
                </a:solidFill>
              </a:rPr>
              <a:t>Dr. Osama Ghoneim                                Eng. Omar Khaled</a:t>
            </a:r>
          </a:p>
        </p:txBody>
      </p:sp>
      <p:pic>
        <p:nvPicPr>
          <p:cNvPr id="6" name="Picture Placeholder 5">
            <a:extLst>
              <a:ext uri="{FF2B5EF4-FFF2-40B4-BE49-F238E27FC236}">
                <a16:creationId xmlns:a16="http://schemas.microsoft.com/office/drawing/2014/main" id="{745A5FB3-C2D9-C45A-B399-1A9E295DBC8D}"/>
              </a:ext>
            </a:extLst>
          </p:cNvPr>
          <p:cNvPicPr>
            <a:picLocks noGrp="1" noChangeAspect="1"/>
          </p:cNvPicPr>
          <p:nvPr>
            <p:ph type="pic" sz="quarter" idx="23"/>
          </p:nvPr>
        </p:nvPicPr>
        <p:blipFill>
          <a:blip r:embed="rId5"/>
          <a:srcRect l="771" t="18302" r="-771" b="17046"/>
          <a:stretch>
            <a:fillRect/>
          </a:stretch>
        </p:blipFill>
        <p:spPr>
          <a:xfrm>
            <a:off x="8802688" y="2555875"/>
            <a:ext cx="1484312" cy="1279525"/>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pic>
      <p:sp>
        <p:nvSpPr>
          <p:cNvPr id="9" name="Text Placeholder 8">
            <a:extLst>
              <a:ext uri="{FF2B5EF4-FFF2-40B4-BE49-F238E27FC236}">
                <a16:creationId xmlns:a16="http://schemas.microsoft.com/office/drawing/2014/main" id="{9027728A-DCD9-592B-366A-6DC8C595BB91}"/>
              </a:ext>
            </a:extLst>
          </p:cNvPr>
          <p:cNvSpPr>
            <a:spLocks noGrp="1"/>
          </p:cNvSpPr>
          <p:nvPr>
            <p:ph type="body" sz="quarter" idx="16"/>
          </p:nvPr>
        </p:nvSpPr>
        <p:spPr>
          <a:xfrm>
            <a:off x="8475260" y="4172760"/>
            <a:ext cx="2139696" cy="700111"/>
          </a:xfrm>
        </p:spPr>
        <p:txBody>
          <a:bodyPr/>
          <a:lstStyle/>
          <a:p>
            <a:r>
              <a:rPr lang="en-US" dirty="0"/>
              <a:t>Adam</a:t>
            </a:r>
            <a:br>
              <a:rPr lang="en-US" dirty="0"/>
            </a:br>
            <a:r>
              <a:rPr lang="en-US" dirty="0"/>
              <a:t>Kamal</a:t>
            </a:r>
          </a:p>
        </p:txBody>
      </p:sp>
    </p:spTree>
    <p:extLst>
      <p:ext uri="{BB962C8B-B14F-4D97-AF65-F5344CB8AC3E}">
        <p14:creationId xmlns:p14="http://schemas.microsoft.com/office/powerpoint/2010/main" val="340174871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EF53E3-F88C-4203-A489-8C9D57513DF6}"/>
              </a:ext>
            </a:extLst>
          </p:cNvPr>
          <p:cNvSpPr>
            <a:spLocks noGrp="1"/>
          </p:cNvSpPr>
          <p:nvPr>
            <p:ph type="title"/>
          </p:nvPr>
        </p:nvSpPr>
        <p:spPr>
          <a:xfrm>
            <a:off x="660400" y="837038"/>
            <a:ext cx="4275138" cy="830997"/>
          </a:xfrm>
        </p:spPr>
        <p:txBody>
          <a:bodyPr/>
          <a:lstStyle/>
          <a:p>
            <a:r>
              <a:rPr lang="en-US" sz="3600" dirty="0"/>
              <a:t>Introduction</a:t>
            </a:r>
          </a:p>
        </p:txBody>
      </p:sp>
      <p:sp>
        <p:nvSpPr>
          <p:cNvPr id="8" name="Text Placeholder 7">
            <a:extLst>
              <a:ext uri="{FF2B5EF4-FFF2-40B4-BE49-F238E27FC236}">
                <a16:creationId xmlns:a16="http://schemas.microsoft.com/office/drawing/2014/main" id="{6F03AADD-A4FE-4CE8-944C-3F9C9777F0AB}"/>
              </a:ext>
            </a:extLst>
          </p:cNvPr>
          <p:cNvSpPr>
            <a:spLocks noGrp="1"/>
          </p:cNvSpPr>
          <p:nvPr>
            <p:ph type="body" sz="quarter" idx="12"/>
          </p:nvPr>
        </p:nvSpPr>
        <p:spPr>
          <a:xfrm>
            <a:off x="898525" y="1558925"/>
            <a:ext cx="4275138" cy="4841875"/>
          </a:xfrm>
        </p:spPr>
        <p:txBody>
          <a:bodyPr/>
          <a:lstStyle/>
          <a:p>
            <a:pPr marL="0" indent="0">
              <a:buNone/>
            </a:pPr>
            <a:r>
              <a:rPr lang="en-US" sz="1400" dirty="0"/>
              <a:t>Hotel Management System</a:t>
            </a:r>
          </a:p>
          <a:p>
            <a:r>
              <a:rPr lang="en-US" sz="1200" dirty="0"/>
              <a:t>This project is a </a:t>
            </a:r>
            <a:r>
              <a:rPr lang="en-US" sz="1200" b="1" dirty="0"/>
              <a:t>Hotel Booking Management System</a:t>
            </a:r>
            <a:r>
              <a:rPr lang="en-US" sz="1200" dirty="0"/>
              <a:t> developed using </a:t>
            </a:r>
            <a:r>
              <a:rPr lang="en-US" sz="1200" b="1" dirty="0"/>
              <a:t>C++</a:t>
            </a:r>
            <a:r>
              <a:rPr lang="en-US" sz="1200" dirty="0"/>
              <a:t>. It is designed to simplify hotel reservation operations by providing an efficient and user-friendly console-based management solution.</a:t>
            </a:r>
            <a:endParaRPr lang="ar-EG" sz="1200" dirty="0"/>
          </a:p>
          <a:p>
            <a:pPr marL="0" indent="0">
              <a:buNone/>
            </a:pPr>
            <a:endParaRPr lang="en-US" sz="1200" dirty="0"/>
          </a:p>
          <a:p>
            <a:r>
              <a:rPr lang="en-US" sz="1200" dirty="0"/>
              <a:t>The system allows users to manage room reservations, check room availability, search booking records, and cancel reservations easily. It supports different room categories including </a:t>
            </a:r>
            <a:r>
              <a:rPr lang="en-US" sz="1200" b="1" dirty="0"/>
              <a:t>Standard, Deluxe, and Suite</a:t>
            </a:r>
            <a:r>
              <a:rPr lang="en-US" sz="1200" dirty="0"/>
              <a:t>, with automatic validation of booking dates and room availability.</a:t>
            </a:r>
            <a:endParaRPr lang="ar-EG" sz="1200" dirty="0"/>
          </a:p>
          <a:p>
            <a:pPr marL="0" indent="0">
              <a:buNone/>
            </a:pPr>
            <a:endParaRPr lang="en-US" sz="1200" dirty="0"/>
          </a:p>
          <a:p>
            <a:r>
              <a:rPr lang="en-US" sz="1200" dirty="0"/>
              <a:t>Additionally, the system stores booking information in CSV files, ensuring data persistence and easy record management. The main goal of this project is to demonstrate the application of </a:t>
            </a:r>
            <a:r>
              <a:rPr lang="en-US" sz="1200" b="1" dirty="0"/>
              <a:t>Object-Oriented Programming (OOP)</a:t>
            </a:r>
            <a:r>
              <a:rPr lang="en-US" sz="1200" dirty="0"/>
              <a:t> concepts, file handling, data validation, and efficient booking management in a real-world scenario.</a:t>
            </a:r>
          </a:p>
        </p:txBody>
      </p:sp>
      <p:pic>
        <p:nvPicPr>
          <p:cNvPr id="4" name="Picture Placeholder 3">
            <a:extLst>
              <a:ext uri="{FF2B5EF4-FFF2-40B4-BE49-F238E27FC236}">
                <a16:creationId xmlns:a16="http://schemas.microsoft.com/office/drawing/2014/main" id="{5EAB7860-C105-46A8-8B51-C886DCFAB528}"/>
              </a:ext>
            </a:extLst>
          </p:cNvPr>
          <p:cNvPicPr>
            <a:picLocks noGrp="1" noChangeAspect="1"/>
          </p:cNvPicPr>
          <p:nvPr>
            <p:ph type="pic" sz="quarter" idx="13"/>
          </p:nvPr>
        </p:nvPicPr>
        <p:blipFill>
          <a:blip r:embed="rId2"/>
          <a:srcRect t="42628" b="42628"/>
          <a:stretch>
            <a:fillRect/>
          </a:stretch>
        </p:blipFill>
        <p:spPr>
          <a:xfrm>
            <a:off x="7090227" y="786181"/>
            <a:ext cx="4441372" cy="539303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2" name="Rectangle 1">
            <a:extLst>
              <a:ext uri="{FF2B5EF4-FFF2-40B4-BE49-F238E27FC236}">
                <a16:creationId xmlns:a16="http://schemas.microsoft.com/office/drawing/2014/main" id="{5E6FF380-2422-96CD-055C-685A674CDA57}"/>
              </a:ext>
            </a:extLst>
          </p:cNvPr>
          <p:cNvSpPr/>
          <p:nvPr/>
        </p:nvSpPr>
        <p:spPr>
          <a:xfrm>
            <a:off x="432000" y="6257925"/>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677030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336750" y="288657"/>
            <a:ext cx="5121275" cy="1033112"/>
          </a:xfrm>
        </p:spPr>
        <p:txBody>
          <a:bodyPr/>
          <a:lstStyle/>
          <a:p>
            <a:r>
              <a:rPr lang="en-US" sz="3600" dirty="0"/>
              <a:t>Code Explanation Block1(1-79):</a:t>
            </a:r>
          </a:p>
        </p:txBody>
      </p:sp>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855068" y="1670606"/>
            <a:ext cx="4275138" cy="4613688"/>
          </a:xfrm>
        </p:spPr>
        <p:txBody>
          <a:bodyPr/>
          <a:lstStyle/>
          <a:p>
            <a:pPr>
              <a:lnSpc>
                <a:spcPct val="100000"/>
              </a:lnSpc>
            </a:pPr>
            <a:r>
              <a:rPr lang="en-US" sz="1200" dirty="0"/>
              <a:t>This part of the system is responsible for handling and validating booking dates to ensure accurate reservation management.</a:t>
            </a:r>
            <a:endParaRPr lang="ar-EG" sz="1200" dirty="0"/>
          </a:p>
          <a:p>
            <a:pPr>
              <a:lnSpc>
                <a:spcPct val="100000"/>
              </a:lnSpc>
            </a:pPr>
            <a:r>
              <a:rPr lang="en-US" sz="1200" dirty="0"/>
              <a:t>First, the program checks whether the entered date is valid by verifying the </a:t>
            </a:r>
            <a:r>
              <a:rPr lang="en-US" sz="1200" b="1" dirty="0"/>
              <a:t>year, month, and day values</a:t>
            </a:r>
            <a:r>
              <a:rPr lang="en-US" sz="1200" dirty="0"/>
              <a:t>. It also considers </a:t>
            </a:r>
            <a:r>
              <a:rPr lang="en-US" sz="1200" b="1" dirty="0"/>
              <a:t>leap years</a:t>
            </a:r>
            <a:r>
              <a:rPr lang="en-US" sz="1200" dirty="0"/>
              <a:t> to correctly handle February dates.</a:t>
            </a:r>
          </a:p>
          <a:p>
            <a:pPr>
              <a:lnSpc>
                <a:spcPct val="100000"/>
              </a:lnSpc>
            </a:pPr>
            <a:r>
              <a:rPr lang="en-US" sz="1200" dirty="0"/>
              <a:t>The system then compares two dates to determine their chronological order, which helps ensure that the check-out date comes after the check-in date.</a:t>
            </a:r>
          </a:p>
          <a:p>
            <a:pPr>
              <a:lnSpc>
                <a:spcPct val="100000"/>
              </a:lnSpc>
            </a:pPr>
            <a:r>
              <a:rPr lang="en-US" sz="1200" dirty="0"/>
              <a:t>Additionally, the program detects </a:t>
            </a:r>
            <a:r>
              <a:rPr lang="en-US" sz="1200" b="1" dirty="0"/>
              <a:t>date range overlaps</a:t>
            </a:r>
            <a:r>
              <a:rPr lang="en-US" sz="1200" dirty="0"/>
              <a:t> between bookings. This prevents multiple guests from booking the same room during overlapping periods, ensuring that room reservations remain accurate and conflict-free.</a:t>
            </a:r>
          </a:p>
          <a:p>
            <a:pPr marL="0" indent="0">
              <a:lnSpc>
                <a:spcPct val="100000"/>
              </a:lnSpc>
              <a:buNone/>
            </a:pPr>
            <a:r>
              <a:rPr lang="en-US" sz="1200" b="1" dirty="0"/>
              <a:t>Main Functions:</a:t>
            </a:r>
          </a:p>
          <a:p>
            <a:pPr>
              <a:lnSpc>
                <a:spcPct val="100000"/>
              </a:lnSpc>
            </a:pPr>
            <a:r>
              <a:rPr lang="en-US" sz="1200" b="1" dirty="0"/>
              <a:t>Leap Year Validation</a:t>
            </a:r>
            <a:r>
              <a:rPr lang="en-US" sz="1200" dirty="0"/>
              <a:t> – Checks if a year has 365 or 366 days. </a:t>
            </a:r>
          </a:p>
          <a:p>
            <a:pPr>
              <a:lnSpc>
                <a:spcPct val="100000"/>
              </a:lnSpc>
            </a:pPr>
            <a:r>
              <a:rPr lang="en-US" sz="1200" b="1" dirty="0"/>
              <a:t>Date Validation</a:t>
            </a:r>
            <a:r>
              <a:rPr lang="en-US" sz="1200" dirty="0"/>
              <a:t> – Ensures the entered date is correct. </a:t>
            </a:r>
          </a:p>
          <a:p>
            <a:pPr>
              <a:lnSpc>
                <a:spcPct val="100000"/>
              </a:lnSpc>
            </a:pPr>
            <a:r>
              <a:rPr lang="en-US" sz="1200" b="1" dirty="0"/>
              <a:t>Date Comparison</a:t>
            </a:r>
            <a:r>
              <a:rPr lang="en-US" sz="1200" dirty="0"/>
              <a:t> – Compares two dates chronologically. </a:t>
            </a:r>
          </a:p>
          <a:p>
            <a:pPr>
              <a:lnSpc>
                <a:spcPct val="100000"/>
              </a:lnSpc>
            </a:pPr>
            <a:r>
              <a:rPr lang="en-US" sz="1200" b="1" dirty="0"/>
              <a:t>Overlap Detection</a:t>
            </a:r>
            <a:r>
              <a:rPr lang="en-US" sz="1200" dirty="0"/>
              <a:t> – Prevents booking conflicts for the same room. </a:t>
            </a:r>
          </a:p>
        </p:txBody>
      </p:sp>
      <p:pic>
        <p:nvPicPr>
          <p:cNvPr id="11" name="Picture Placeholder 10">
            <a:extLst>
              <a:ext uri="{FF2B5EF4-FFF2-40B4-BE49-F238E27FC236}">
                <a16:creationId xmlns:a16="http://schemas.microsoft.com/office/drawing/2014/main" id="{1CE2008D-DBCE-465F-90DA-B28A4E525131}"/>
              </a:ext>
            </a:extLst>
          </p:cNvPr>
          <p:cNvPicPr>
            <a:picLocks noGrp="1" noChangeAspect="1"/>
          </p:cNvPicPr>
          <p:nvPr>
            <p:ph type="pic" sz="quarter" idx="10"/>
          </p:nvPr>
        </p:nvPicPr>
        <p:blipFill>
          <a:blip r:embed="rId3"/>
          <a:srcRect t="4182" b="4182"/>
          <a:stretch>
            <a:fillRect/>
          </a:stretch>
        </p:blipFill>
        <p:spPr>
          <a:xfrm>
            <a:off x="6209246" y="805213"/>
            <a:ext cx="5314782" cy="511131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2" name="Rectangle 1">
            <a:extLst>
              <a:ext uri="{FF2B5EF4-FFF2-40B4-BE49-F238E27FC236}">
                <a16:creationId xmlns:a16="http://schemas.microsoft.com/office/drawing/2014/main" id="{47BDAD02-B08A-BA8D-B568-E89D5C608144}"/>
              </a:ext>
            </a:extLst>
          </p:cNvPr>
          <p:cNvSpPr/>
          <p:nvPr/>
        </p:nvSpPr>
        <p:spPr>
          <a:xfrm>
            <a:off x="470100" y="6395006"/>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6">
            <a:extLst>
              <a:ext uri="{FF2B5EF4-FFF2-40B4-BE49-F238E27FC236}">
                <a16:creationId xmlns:a16="http://schemas.microsoft.com/office/drawing/2014/main" id="{C00CBD67-3F9C-E339-C7F1-26FFB16A341C}"/>
              </a:ext>
            </a:extLst>
          </p:cNvPr>
          <p:cNvSpPr txBox="1">
            <a:spLocks/>
          </p:cNvSpPr>
          <p:nvPr/>
        </p:nvSpPr>
        <p:spPr>
          <a:xfrm>
            <a:off x="541006" y="1260134"/>
            <a:ext cx="3515853" cy="344694"/>
          </a:xfrm>
          <a:prstGeom prst="rect">
            <a:avLst/>
          </a:prstGeom>
        </p:spPr>
        <p:txBody>
          <a:bodyPr/>
          <a:lstStyle>
            <a:lvl1pPr marL="266700" indent="-266700" algn="l" defTabSz="914400" rtl="0" eaLnBrk="1" latinLnBrk="0" hangingPunct="1">
              <a:lnSpc>
                <a:spcPct val="15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Date Validation and Booking Conflict Detection</a:t>
            </a:r>
          </a:p>
        </p:txBody>
      </p:sp>
    </p:spTree>
    <p:extLst>
      <p:ext uri="{BB962C8B-B14F-4D97-AF65-F5344CB8AC3E}">
        <p14:creationId xmlns:p14="http://schemas.microsoft.com/office/powerpoint/2010/main" val="134190106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1BC21BB7-9063-D1B8-DC14-ADB4ADE165D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8BDD368C-199A-A323-FAFC-69139B0C880C}"/>
              </a:ext>
            </a:extLst>
          </p:cNvPr>
          <p:cNvSpPr>
            <a:spLocks noGrp="1"/>
          </p:cNvSpPr>
          <p:nvPr>
            <p:ph type="title"/>
          </p:nvPr>
        </p:nvSpPr>
        <p:spPr>
          <a:xfrm>
            <a:off x="336750" y="288657"/>
            <a:ext cx="5121275" cy="1033112"/>
          </a:xfrm>
        </p:spPr>
        <p:txBody>
          <a:bodyPr/>
          <a:lstStyle/>
          <a:p>
            <a:r>
              <a:rPr lang="en-US" sz="3600" dirty="0"/>
              <a:t>Code Explanation Block1(79-155):</a:t>
            </a:r>
          </a:p>
        </p:txBody>
      </p:sp>
      <p:pic>
        <p:nvPicPr>
          <p:cNvPr id="11" name="Picture Placeholder 10">
            <a:extLst>
              <a:ext uri="{FF2B5EF4-FFF2-40B4-BE49-F238E27FC236}">
                <a16:creationId xmlns:a16="http://schemas.microsoft.com/office/drawing/2014/main" id="{ECF78111-0003-A002-E4AD-F133224D02B0}"/>
              </a:ext>
            </a:extLst>
          </p:cNvPr>
          <p:cNvPicPr>
            <a:picLocks noGrp="1" noChangeAspect="1"/>
          </p:cNvPicPr>
          <p:nvPr>
            <p:ph type="pic" sz="quarter" idx="10"/>
          </p:nvPr>
        </p:nvPicPr>
        <p:blipFill>
          <a:blip r:embed="rId3"/>
          <a:srcRect t="4921" b="4921"/>
          <a:stretch>
            <a:fillRect/>
          </a:stretch>
        </p:blipFill>
        <p:spPr>
          <a:xfrm>
            <a:off x="6209246" y="805213"/>
            <a:ext cx="5314782" cy="511131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2" name="Rectangle 1">
            <a:extLst>
              <a:ext uri="{FF2B5EF4-FFF2-40B4-BE49-F238E27FC236}">
                <a16:creationId xmlns:a16="http://schemas.microsoft.com/office/drawing/2014/main" id="{7C13AA30-40AC-E191-6761-71CB8B3BFBD1}"/>
              </a:ext>
            </a:extLst>
          </p:cNvPr>
          <p:cNvSpPr/>
          <p:nvPr/>
        </p:nvSpPr>
        <p:spPr>
          <a:xfrm>
            <a:off x="432000" y="6257925"/>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A2AA76EF-19EB-5552-4E01-90DF8C677C33}"/>
              </a:ext>
            </a:extLst>
          </p:cNvPr>
          <p:cNvSpPr>
            <a:spLocks noGrp="1"/>
          </p:cNvSpPr>
          <p:nvPr>
            <p:ph type="body" sz="quarter" idx="12"/>
          </p:nvPr>
        </p:nvSpPr>
        <p:spPr>
          <a:xfrm>
            <a:off x="1016993" y="1738078"/>
            <a:ext cx="4275138" cy="4831265"/>
          </a:xfrm>
        </p:spPr>
        <p:txBody>
          <a:bodyPr/>
          <a:lstStyle/>
          <a:p>
            <a:pPr>
              <a:lnSpc>
                <a:spcPct val="100000"/>
              </a:lnSpc>
            </a:pPr>
            <a:r>
              <a:rPr lang="en-US" sz="1200" dirty="0"/>
              <a:t>This part of the system handles room classification, input formatting, and data storage operations. It ensures that room information and customer data are processed accurately and efficiently.</a:t>
            </a:r>
          </a:p>
          <a:p>
            <a:pPr>
              <a:lnSpc>
                <a:spcPct val="100000"/>
              </a:lnSpc>
            </a:pPr>
            <a:r>
              <a:rPr lang="en-US" sz="1200" dirty="0"/>
              <a:t>The system first validates room numbers to make sure they fall within the hotel’s available room range (</a:t>
            </a:r>
            <a:r>
              <a:rPr lang="en-US" sz="1200" b="1" dirty="0"/>
              <a:t>1 to 30</a:t>
            </a:r>
            <a:r>
              <a:rPr lang="en-US" sz="1200" dirty="0"/>
              <a:t>). After validation, each room is automatically assigned a category based on its number:</a:t>
            </a:r>
            <a:endParaRPr lang="ar-EG" sz="1200" dirty="0"/>
          </a:p>
          <a:p>
            <a:pPr>
              <a:lnSpc>
                <a:spcPct val="100000"/>
              </a:lnSpc>
            </a:pPr>
            <a:r>
              <a:rPr lang="en-US" sz="1200" dirty="0"/>
              <a:t>In addition, the program processes text input by removing unnecessary spaces and converting text to lowercase when needed. This improves search accuracy and input consistency.</a:t>
            </a:r>
          </a:p>
          <a:p>
            <a:pPr>
              <a:lnSpc>
                <a:spcPct val="100000"/>
              </a:lnSpc>
            </a:pPr>
            <a:r>
              <a:rPr lang="en-US" sz="1200" dirty="0"/>
              <a:t>For data storage, the system uses </a:t>
            </a:r>
            <a:r>
              <a:rPr lang="en-US" sz="1200" b="1" dirty="0"/>
              <a:t>CSV file handling</a:t>
            </a:r>
            <a:r>
              <a:rPr lang="en-US" sz="1200" dirty="0"/>
              <a:t>. Special characters are properly formatted before saving data, and stored records can be accurately read and separated into individual fields when loaded back into the system.</a:t>
            </a:r>
          </a:p>
          <a:p>
            <a:pPr marL="0" indent="0">
              <a:lnSpc>
                <a:spcPct val="100000"/>
              </a:lnSpc>
              <a:buNone/>
            </a:pPr>
            <a:r>
              <a:rPr lang="en-US" sz="1200" b="1" dirty="0"/>
              <a:t>Main Functions:</a:t>
            </a:r>
          </a:p>
          <a:p>
            <a:pPr>
              <a:lnSpc>
                <a:spcPct val="100000"/>
              </a:lnSpc>
            </a:pPr>
            <a:r>
              <a:rPr lang="en-US" sz="1200" b="1" dirty="0"/>
              <a:t>Room Validation</a:t>
            </a:r>
            <a:r>
              <a:rPr lang="en-US" sz="1200" dirty="0"/>
              <a:t> – Checks if the room number is valid. </a:t>
            </a:r>
          </a:p>
          <a:p>
            <a:pPr>
              <a:lnSpc>
                <a:spcPct val="100000"/>
              </a:lnSpc>
            </a:pPr>
            <a:r>
              <a:rPr lang="en-US" sz="1200" b="1" dirty="0"/>
              <a:t>Room Classification</a:t>
            </a:r>
            <a:r>
              <a:rPr lang="en-US" sz="1200" dirty="0"/>
              <a:t> – Assigns the correct room type. </a:t>
            </a:r>
          </a:p>
          <a:p>
            <a:pPr>
              <a:lnSpc>
                <a:spcPct val="100000"/>
              </a:lnSpc>
            </a:pPr>
            <a:r>
              <a:rPr lang="en-US" sz="1200" b="1" dirty="0"/>
              <a:t>Text Processing</a:t>
            </a:r>
            <a:r>
              <a:rPr lang="en-US" sz="1200" dirty="0"/>
              <a:t> – Cleans and standardizes user input. </a:t>
            </a:r>
          </a:p>
          <a:p>
            <a:pPr>
              <a:lnSpc>
                <a:spcPct val="100000"/>
              </a:lnSpc>
            </a:pPr>
            <a:r>
              <a:rPr lang="en-US" sz="1200" b="1" dirty="0"/>
              <a:t>CSV Formatting</a:t>
            </a:r>
            <a:r>
              <a:rPr lang="en-US" sz="1200" dirty="0"/>
              <a:t> – Saves and retrieves booking data safely. </a:t>
            </a:r>
          </a:p>
        </p:txBody>
      </p:sp>
      <p:sp>
        <p:nvSpPr>
          <p:cNvPr id="3" name="Text Placeholder 6">
            <a:extLst>
              <a:ext uri="{FF2B5EF4-FFF2-40B4-BE49-F238E27FC236}">
                <a16:creationId xmlns:a16="http://schemas.microsoft.com/office/drawing/2014/main" id="{D349833E-D76B-608D-FF84-D024691D7C70}"/>
              </a:ext>
            </a:extLst>
          </p:cNvPr>
          <p:cNvSpPr txBox="1">
            <a:spLocks/>
          </p:cNvSpPr>
          <p:nvPr/>
        </p:nvSpPr>
        <p:spPr>
          <a:xfrm>
            <a:off x="792362" y="1321769"/>
            <a:ext cx="3054684" cy="377283"/>
          </a:xfrm>
          <a:prstGeom prst="rect">
            <a:avLst/>
          </a:prstGeom>
        </p:spPr>
        <p:txBody>
          <a:bodyPr/>
          <a:lstStyle>
            <a:lvl1pPr marL="266700" indent="-266700" algn="l" defTabSz="914400" rtl="0" eaLnBrk="1" latinLnBrk="0" hangingPunct="1">
              <a:lnSpc>
                <a:spcPct val="15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Room Management and Data Processing</a:t>
            </a:r>
          </a:p>
        </p:txBody>
      </p:sp>
    </p:spTree>
    <p:extLst>
      <p:ext uri="{BB962C8B-B14F-4D97-AF65-F5344CB8AC3E}">
        <p14:creationId xmlns:p14="http://schemas.microsoft.com/office/powerpoint/2010/main" val="46893846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957FCFCD-7B9D-2B43-6A3E-2665A1CDD504}"/>
              </a:ext>
            </a:extLst>
          </p:cNvPr>
          <p:cNvPicPr>
            <a:picLocks noGrp="1" noChangeAspect="1"/>
          </p:cNvPicPr>
          <p:nvPr>
            <p:ph type="pic" sz="quarter" idx="10"/>
          </p:nvPr>
        </p:nvPicPr>
        <p:blipFill>
          <a:blip r:embed="rId2"/>
          <a:srcRect l="-31" r="-31"/>
          <a:stretch>
            <a:fillRect/>
          </a:stretch>
        </p:blipFill>
        <p:spPr>
          <a:xfrm>
            <a:off x="5733416" y="624239"/>
            <a:ext cx="5855754" cy="56315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Title 3">
            <a:extLst>
              <a:ext uri="{FF2B5EF4-FFF2-40B4-BE49-F238E27FC236}">
                <a16:creationId xmlns:a16="http://schemas.microsoft.com/office/drawing/2014/main" id="{43D94AEE-0419-967C-6B58-78B18B895002}"/>
              </a:ext>
            </a:extLst>
          </p:cNvPr>
          <p:cNvSpPr>
            <a:spLocks noGrp="1"/>
          </p:cNvSpPr>
          <p:nvPr>
            <p:ph type="title"/>
          </p:nvPr>
        </p:nvSpPr>
        <p:spPr>
          <a:xfrm>
            <a:off x="432000" y="624239"/>
            <a:ext cx="4721225" cy="1239487"/>
          </a:xfrm>
        </p:spPr>
        <p:txBody>
          <a:bodyPr/>
          <a:lstStyle/>
          <a:p>
            <a:r>
              <a:rPr lang="en-US" sz="3600" dirty="0"/>
              <a:t>Console Output Explanation:</a:t>
            </a:r>
          </a:p>
        </p:txBody>
      </p:sp>
      <p:sp>
        <p:nvSpPr>
          <p:cNvPr id="5" name="Rectangle 4">
            <a:extLst>
              <a:ext uri="{FF2B5EF4-FFF2-40B4-BE49-F238E27FC236}">
                <a16:creationId xmlns:a16="http://schemas.microsoft.com/office/drawing/2014/main" id="{E146240D-932D-4C90-ECB6-E5D6CC0C514D}"/>
              </a:ext>
            </a:extLst>
          </p:cNvPr>
          <p:cNvSpPr/>
          <p:nvPr/>
        </p:nvSpPr>
        <p:spPr>
          <a:xfrm>
            <a:off x="432000" y="6257925"/>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061B2431-B98E-8231-3259-47AED8657D42}"/>
              </a:ext>
            </a:extLst>
          </p:cNvPr>
          <p:cNvSpPr>
            <a:spLocks noGrp="1"/>
          </p:cNvSpPr>
          <p:nvPr>
            <p:ph type="body" sz="quarter" idx="12"/>
          </p:nvPr>
        </p:nvSpPr>
        <p:spPr>
          <a:xfrm>
            <a:off x="755650" y="1949450"/>
            <a:ext cx="4275138" cy="4908550"/>
          </a:xfrm>
        </p:spPr>
        <p:txBody>
          <a:bodyPr/>
          <a:lstStyle/>
          <a:p>
            <a:pPr>
              <a:lnSpc>
                <a:spcPct val="100000"/>
              </a:lnSpc>
            </a:pPr>
            <a:r>
              <a:rPr lang="en-US" sz="1200" dirty="0"/>
              <a:t>This part represents the </a:t>
            </a:r>
            <a:r>
              <a:rPr lang="en-US" sz="1200" b="1" dirty="0"/>
              <a:t>main execution flow</a:t>
            </a:r>
            <a:r>
              <a:rPr lang="en-US" sz="1200" dirty="0"/>
              <a:t> of the hotel booking system. The run() function is responsible for displaying the main menu and controlling user interaction with the program.</a:t>
            </a:r>
          </a:p>
          <a:p>
            <a:pPr>
              <a:lnSpc>
                <a:spcPct val="100000"/>
              </a:lnSpc>
            </a:pPr>
            <a:r>
              <a:rPr lang="en-US" sz="1200" dirty="0"/>
              <a:t>When the system starts, a menu appears on the screen showing all available operations. The user can select different options to manage hotel bookings easily.</a:t>
            </a:r>
          </a:p>
          <a:p>
            <a:pPr>
              <a:lnSpc>
                <a:spcPct val="100000"/>
              </a:lnSpc>
            </a:pPr>
            <a:r>
              <a:rPr lang="en-US" sz="1200" dirty="0"/>
              <a:t>The menu provides the following features:</a:t>
            </a:r>
          </a:p>
          <a:p>
            <a:pPr>
              <a:lnSpc>
                <a:spcPct val="100000"/>
              </a:lnSpc>
            </a:pPr>
            <a:r>
              <a:rPr lang="en-US" sz="1200" b="1" dirty="0"/>
              <a:t>Book a Room</a:t>
            </a:r>
            <a:r>
              <a:rPr lang="en-US" sz="1200" dirty="0"/>
              <a:t> – Create a new reservation for a guest. </a:t>
            </a:r>
          </a:p>
          <a:p>
            <a:pPr>
              <a:lnSpc>
                <a:spcPct val="100000"/>
              </a:lnSpc>
            </a:pPr>
            <a:r>
              <a:rPr lang="en-US" sz="1200" b="1" dirty="0"/>
              <a:t>Show Bookings</a:t>
            </a:r>
            <a:r>
              <a:rPr lang="en-US" sz="1200" dirty="0"/>
              <a:t> – Display all current booking records. </a:t>
            </a:r>
          </a:p>
          <a:p>
            <a:pPr>
              <a:lnSpc>
                <a:spcPct val="100000"/>
              </a:lnSpc>
            </a:pPr>
            <a:r>
              <a:rPr lang="en-US" sz="1200" b="1" dirty="0"/>
              <a:t>Cancel Booking</a:t>
            </a:r>
            <a:r>
              <a:rPr lang="en-US" sz="1200" dirty="0"/>
              <a:t> – Remove an existing reservation using the booking ID. </a:t>
            </a:r>
          </a:p>
          <a:p>
            <a:pPr>
              <a:lnSpc>
                <a:spcPct val="100000"/>
              </a:lnSpc>
            </a:pPr>
            <a:r>
              <a:rPr lang="en-US" sz="1200" b="1" dirty="0"/>
              <a:t>Search Bookings</a:t>
            </a:r>
            <a:r>
              <a:rPr lang="en-US" sz="1200" dirty="0"/>
              <a:t> – Search for reservations by guest name or room number. </a:t>
            </a:r>
          </a:p>
          <a:p>
            <a:pPr>
              <a:lnSpc>
                <a:spcPct val="100000"/>
              </a:lnSpc>
            </a:pPr>
            <a:r>
              <a:rPr lang="en-US" sz="1200" b="1" dirty="0"/>
              <a:t>Show Available Rooms</a:t>
            </a:r>
            <a:r>
              <a:rPr lang="en-US" sz="1200" dirty="0"/>
              <a:t> – Display all available rooms for a selected date range. </a:t>
            </a:r>
          </a:p>
          <a:p>
            <a:pPr>
              <a:lnSpc>
                <a:spcPct val="100000"/>
              </a:lnSpc>
            </a:pPr>
            <a:r>
              <a:rPr lang="en-US" sz="1200" b="1" dirty="0"/>
              <a:t>Exit</a:t>
            </a:r>
            <a:r>
              <a:rPr lang="en-US" sz="1200" dirty="0"/>
              <a:t> – Close the system safely. </a:t>
            </a:r>
          </a:p>
          <a:p>
            <a:pPr>
              <a:lnSpc>
                <a:spcPct val="100000"/>
              </a:lnSpc>
            </a:pPr>
            <a:r>
              <a:rPr lang="en-US" sz="1200" dirty="0"/>
              <a:t>The run() function continuously loops until the user chooses the exit option, ensuring smooth navigation and continuous system operation.</a:t>
            </a:r>
          </a:p>
        </p:txBody>
      </p:sp>
      <p:sp>
        <p:nvSpPr>
          <p:cNvPr id="2" name="Text Placeholder 2">
            <a:extLst>
              <a:ext uri="{FF2B5EF4-FFF2-40B4-BE49-F238E27FC236}">
                <a16:creationId xmlns:a16="http://schemas.microsoft.com/office/drawing/2014/main" id="{FCE2693E-87FA-70A7-BD8B-5263B0799E60}"/>
              </a:ext>
            </a:extLst>
          </p:cNvPr>
          <p:cNvSpPr txBox="1">
            <a:spLocks/>
          </p:cNvSpPr>
          <p:nvPr/>
        </p:nvSpPr>
        <p:spPr>
          <a:xfrm>
            <a:off x="655043" y="1589088"/>
            <a:ext cx="4275138" cy="317500"/>
          </a:xfrm>
          <a:prstGeom prst="rect">
            <a:avLst/>
          </a:prstGeom>
        </p:spPr>
        <p:txBody>
          <a:bodyPr/>
          <a:lstStyle>
            <a:lvl1pPr marL="266700" indent="-266700" algn="l" defTabSz="914400" rtl="0" eaLnBrk="1" latinLnBrk="0" hangingPunct="1">
              <a:lnSpc>
                <a:spcPct val="15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System Execution and User Interface</a:t>
            </a:r>
          </a:p>
        </p:txBody>
      </p:sp>
    </p:spTree>
    <p:extLst>
      <p:ext uri="{BB962C8B-B14F-4D97-AF65-F5344CB8AC3E}">
        <p14:creationId xmlns:p14="http://schemas.microsoft.com/office/powerpoint/2010/main" val="287324097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DEB97434-A410-5E0D-3E21-7C4E0644C5AB}"/>
              </a:ext>
            </a:extLst>
          </p:cNvPr>
          <p:cNvPicPr>
            <a:picLocks noGrp="1" noChangeAspect="1"/>
          </p:cNvPicPr>
          <p:nvPr>
            <p:ph type="pic" sz="quarter" idx="10"/>
          </p:nvPr>
        </p:nvPicPr>
        <p:blipFill>
          <a:blip r:embed="rId2"/>
          <a:srcRect t="2330" b="2330"/>
          <a:stretch/>
        </p:blipFill>
        <p:spPr>
          <a:xfrm>
            <a:off x="5733416" y="624239"/>
            <a:ext cx="5855754" cy="56315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Title 3">
            <a:extLst>
              <a:ext uri="{FF2B5EF4-FFF2-40B4-BE49-F238E27FC236}">
                <a16:creationId xmlns:a16="http://schemas.microsoft.com/office/drawing/2014/main" id="{F992C3B5-0AF2-B7C4-A994-DECEE5458141}"/>
              </a:ext>
            </a:extLst>
          </p:cNvPr>
          <p:cNvSpPr>
            <a:spLocks noGrp="1"/>
          </p:cNvSpPr>
          <p:nvPr>
            <p:ph type="title"/>
          </p:nvPr>
        </p:nvSpPr>
        <p:spPr>
          <a:xfrm>
            <a:off x="432000" y="222074"/>
            <a:ext cx="5301416" cy="1144162"/>
          </a:xfrm>
        </p:spPr>
        <p:txBody>
          <a:bodyPr/>
          <a:lstStyle/>
          <a:p>
            <a:r>
              <a:rPr lang="en-US" sz="3600" dirty="0"/>
              <a:t>Code Explanation Block2(15</a:t>
            </a:r>
            <a:r>
              <a:rPr lang="en-GB" sz="3600" dirty="0"/>
              <a:t>6</a:t>
            </a:r>
            <a:r>
              <a:rPr lang="en-US" sz="3600" dirty="0"/>
              <a:t>-196):</a:t>
            </a:r>
          </a:p>
        </p:txBody>
      </p:sp>
      <p:sp>
        <p:nvSpPr>
          <p:cNvPr id="5" name="Rectangle 4">
            <a:extLst>
              <a:ext uri="{FF2B5EF4-FFF2-40B4-BE49-F238E27FC236}">
                <a16:creationId xmlns:a16="http://schemas.microsoft.com/office/drawing/2014/main" id="{6DE10A1E-B71A-7ACA-3560-24854C7119E8}"/>
              </a:ext>
            </a:extLst>
          </p:cNvPr>
          <p:cNvSpPr/>
          <p:nvPr/>
        </p:nvSpPr>
        <p:spPr>
          <a:xfrm>
            <a:off x="432000" y="6257925"/>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D5A01834-0ABB-76D2-578A-2E82AAA1C291}"/>
              </a:ext>
            </a:extLst>
          </p:cNvPr>
          <p:cNvSpPr>
            <a:spLocks noGrp="1"/>
          </p:cNvSpPr>
          <p:nvPr>
            <p:ph type="body" sz="quarter" idx="12"/>
          </p:nvPr>
        </p:nvSpPr>
        <p:spPr>
          <a:xfrm>
            <a:off x="722195" y="1566335"/>
            <a:ext cx="4511675" cy="5291665"/>
          </a:xfrm>
        </p:spPr>
        <p:txBody>
          <a:bodyPr/>
          <a:lstStyle/>
          <a:p>
            <a:pPr>
              <a:lnSpc>
                <a:spcPct val="100000"/>
              </a:lnSpc>
            </a:pPr>
            <a:r>
              <a:rPr lang="en-US" sz="1200" dirty="0"/>
              <a:t>This part of the system represents the </a:t>
            </a:r>
            <a:r>
              <a:rPr lang="en-US" sz="1200" b="1" dirty="0"/>
              <a:t>Booking class</a:t>
            </a:r>
            <a:r>
              <a:rPr lang="en-US" sz="1200" dirty="0"/>
              <a:t>, which is responsible for storing and managing reservation information for each guest. It acts as the core data structure of the hotel booking system.</a:t>
            </a:r>
          </a:p>
          <a:p>
            <a:pPr>
              <a:lnSpc>
                <a:spcPct val="100000"/>
              </a:lnSpc>
            </a:pPr>
            <a:r>
              <a:rPr lang="en-US" sz="1200" dirty="0"/>
              <a:t>Each booking object contains essential reservation details, including:</a:t>
            </a:r>
          </a:p>
          <a:p>
            <a:pPr>
              <a:lnSpc>
                <a:spcPct val="100000"/>
              </a:lnSpc>
            </a:pPr>
            <a:r>
              <a:rPr lang="en-US" sz="1200" b="1" dirty="0"/>
              <a:t>Booking ID</a:t>
            </a:r>
            <a:r>
              <a:rPr lang="en-US" sz="1200" dirty="0"/>
              <a:t> – A unique identifier for each reservation. </a:t>
            </a:r>
          </a:p>
          <a:p>
            <a:pPr>
              <a:lnSpc>
                <a:spcPct val="100000"/>
              </a:lnSpc>
            </a:pPr>
            <a:r>
              <a:rPr lang="en-US" sz="1200" b="1" dirty="0"/>
              <a:t>Guest Name</a:t>
            </a:r>
            <a:r>
              <a:rPr lang="en-US" sz="1200" dirty="0"/>
              <a:t> – The name of the customer. </a:t>
            </a:r>
          </a:p>
          <a:p>
            <a:pPr>
              <a:lnSpc>
                <a:spcPct val="100000"/>
              </a:lnSpc>
            </a:pPr>
            <a:r>
              <a:rPr lang="en-US" sz="1200" b="1" dirty="0"/>
              <a:t>Room Number</a:t>
            </a:r>
            <a:r>
              <a:rPr lang="en-US" sz="1200" dirty="0"/>
              <a:t> – The assigned room for the booking. </a:t>
            </a:r>
          </a:p>
          <a:p>
            <a:pPr>
              <a:lnSpc>
                <a:spcPct val="100000"/>
              </a:lnSpc>
            </a:pPr>
            <a:r>
              <a:rPr lang="en-US" sz="1200" b="1" dirty="0"/>
              <a:t>Number of Nights</a:t>
            </a:r>
            <a:r>
              <a:rPr lang="en-US" sz="1200" dirty="0"/>
              <a:t> – The duration of the stay. </a:t>
            </a:r>
          </a:p>
          <a:p>
            <a:pPr>
              <a:lnSpc>
                <a:spcPct val="100000"/>
              </a:lnSpc>
            </a:pPr>
            <a:r>
              <a:rPr lang="en-US" sz="1200" b="1" dirty="0"/>
              <a:t>Check-in and Check-out Dates</a:t>
            </a:r>
            <a:r>
              <a:rPr lang="en-US" sz="1200" dirty="0"/>
              <a:t> – Reservation period. </a:t>
            </a:r>
          </a:p>
          <a:p>
            <a:pPr>
              <a:lnSpc>
                <a:spcPct val="100000"/>
              </a:lnSpc>
            </a:pPr>
            <a:r>
              <a:rPr lang="en-US" sz="1200" dirty="0"/>
              <a:t>When a booking is created, the system automatically converts the entered date strings into date objects for easier validation and comparison.</a:t>
            </a:r>
          </a:p>
          <a:p>
            <a:pPr>
              <a:lnSpc>
                <a:spcPct val="100000"/>
              </a:lnSpc>
            </a:pPr>
            <a:r>
              <a:rPr lang="en-US" sz="1200" dirty="0"/>
              <a:t>The class also provides additional functionalities such as:</a:t>
            </a:r>
          </a:p>
          <a:p>
            <a:pPr>
              <a:lnSpc>
                <a:spcPct val="100000"/>
              </a:lnSpc>
            </a:pPr>
            <a:r>
              <a:rPr lang="en-US" sz="1200" b="1" dirty="0"/>
              <a:t>Accessing booking details</a:t>
            </a:r>
            <a:r>
              <a:rPr lang="en-US" sz="1200" dirty="0"/>
              <a:t> through getter functions. </a:t>
            </a:r>
          </a:p>
          <a:p>
            <a:pPr>
              <a:lnSpc>
                <a:spcPct val="100000"/>
              </a:lnSpc>
            </a:pPr>
            <a:r>
              <a:rPr lang="en-US" sz="1200" b="1" dirty="0"/>
              <a:t>Checking booking overlap</a:t>
            </a:r>
            <a:r>
              <a:rPr lang="en-US" sz="1200" dirty="0"/>
              <a:t> to detect reservation conflicts. </a:t>
            </a:r>
          </a:p>
          <a:p>
            <a:pPr>
              <a:lnSpc>
                <a:spcPct val="100000"/>
              </a:lnSpc>
            </a:pPr>
            <a:r>
              <a:rPr lang="en-US" sz="1200" b="1" dirty="0"/>
              <a:t>Identifying room type</a:t>
            </a:r>
            <a:r>
              <a:rPr lang="en-US" sz="1200" dirty="0"/>
              <a:t> automatically based on the room number. </a:t>
            </a:r>
          </a:p>
          <a:p>
            <a:pPr>
              <a:lnSpc>
                <a:spcPct val="100000"/>
              </a:lnSpc>
            </a:pPr>
            <a:r>
              <a:rPr lang="en-US" sz="1200" dirty="0"/>
              <a:t>This class helps organize booking information efficiently while supporting accurate reservation management.</a:t>
            </a:r>
          </a:p>
        </p:txBody>
      </p:sp>
      <p:sp>
        <p:nvSpPr>
          <p:cNvPr id="2" name="Text Placeholder 2">
            <a:extLst>
              <a:ext uri="{FF2B5EF4-FFF2-40B4-BE49-F238E27FC236}">
                <a16:creationId xmlns:a16="http://schemas.microsoft.com/office/drawing/2014/main" id="{085A598A-428F-6F86-4FC3-84EFE358FB3D}"/>
              </a:ext>
            </a:extLst>
          </p:cNvPr>
          <p:cNvSpPr txBox="1">
            <a:spLocks/>
          </p:cNvSpPr>
          <p:nvPr/>
        </p:nvSpPr>
        <p:spPr>
          <a:xfrm>
            <a:off x="722194" y="1223434"/>
            <a:ext cx="4511675" cy="342901"/>
          </a:xfrm>
          <a:prstGeom prst="rect">
            <a:avLst/>
          </a:prstGeom>
        </p:spPr>
        <p:txBody>
          <a:bodyPr/>
          <a:lstStyle>
            <a:lvl1pPr marL="266700" indent="-266700" algn="l" defTabSz="914400" rtl="0" eaLnBrk="1" latinLnBrk="0" hangingPunct="1">
              <a:lnSpc>
                <a:spcPct val="15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Booking Class Implementation</a:t>
            </a:r>
          </a:p>
        </p:txBody>
      </p:sp>
    </p:spTree>
    <p:extLst>
      <p:ext uri="{BB962C8B-B14F-4D97-AF65-F5344CB8AC3E}">
        <p14:creationId xmlns:p14="http://schemas.microsoft.com/office/powerpoint/2010/main" val="21186163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C83FA-60BF-7EC4-6287-55869235C224}"/>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07C66A10-D716-B11C-5DCF-BC65F0250431}"/>
              </a:ext>
            </a:extLst>
          </p:cNvPr>
          <p:cNvPicPr>
            <a:picLocks noGrp="1" noChangeAspect="1"/>
          </p:cNvPicPr>
          <p:nvPr>
            <p:ph type="pic" sz="quarter" idx="10"/>
          </p:nvPr>
        </p:nvPicPr>
        <p:blipFill>
          <a:blip r:embed="rId2"/>
          <a:srcRect t="2625" b="2625"/>
          <a:stretch>
            <a:fillRect/>
          </a:stretch>
        </p:blipFill>
        <p:spPr>
          <a:xfrm>
            <a:off x="5733416" y="624239"/>
            <a:ext cx="5855754" cy="56315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Title 3">
            <a:extLst>
              <a:ext uri="{FF2B5EF4-FFF2-40B4-BE49-F238E27FC236}">
                <a16:creationId xmlns:a16="http://schemas.microsoft.com/office/drawing/2014/main" id="{EE885533-DB4D-8F1C-3F1A-B80F32904F54}"/>
              </a:ext>
            </a:extLst>
          </p:cNvPr>
          <p:cNvSpPr>
            <a:spLocks noGrp="1"/>
          </p:cNvSpPr>
          <p:nvPr>
            <p:ph type="title"/>
          </p:nvPr>
        </p:nvSpPr>
        <p:spPr>
          <a:xfrm>
            <a:off x="432000" y="123825"/>
            <a:ext cx="5301416" cy="1144162"/>
          </a:xfrm>
        </p:spPr>
        <p:txBody>
          <a:bodyPr/>
          <a:lstStyle/>
          <a:p>
            <a:r>
              <a:rPr lang="en-US" sz="3600" dirty="0"/>
              <a:t>Code Explanation Block2(197-297):</a:t>
            </a:r>
          </a:p>
        </p:txBody>
      </p:sp>
      <p:sp>
        <p:nvSpPr>
          <p:cNvPr id="5" name="Rectangle 4">
            <a:extLst>
              <a:ext uri="{FF2B5EF4-FFF2-40B4-BE49-F238E27FC236}">
                <a16:creationId xmlns:a16="http://schemas.microsoft.com/office/drawing/2014/main" id="{2C0C3086-EE13-3A6C-F19C-E3E95CEC0007}"/>
              </a:ext>
            </a:extLst>
          </p:cNvPr>
          <p:cNvSpPr/>
          <p:nvPr/>
        </p:nvSpPr>
        <p:spPr>
          <a:xfrm>
            <a:off x="432000" y="6257925"/>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96A4AFC8-C0FC-7D19-D8F0-76AAAF45713A}"/>
              </a:ext>
            </a:extLst>
          </p:cNvPr>
          <p:cNvSpPr>
            <a:spLocks noGrp="1"/>
          </p:cNvSpPr>
          <p:nvPr>
            <p:ph type="body" sz="quarter" idx="12"/>
          </p:nvPr>
        </p:nvSpPr>
        <p:spPr>
          <a:xfrm>
            <a:off x="602830" y="1339776"/>
            <a:ext cx="4511675" cy="5518224"/>
          </a:xfrm>
        </p:spPr>
        <p:txBody>
          <a:bodyPr/>
          <a:lstStyle/>
          <a:p>
            <a:pPr>
              <a:lnSpc>
                <a:spcPct val="100000"/>
              </a:lnSpc>
            </a:pPr>
            <a:r>
              <a:rPr lang="en-US" sz="1050" dirty="0"/>
              <a:t>This part of the system represents the </a:t>
            </a:r>
            <a:r>
              <a:rPr lang="en-US" sz="1050" b="1" dirty="0"/>
              <a:t>Hotel class</a:t>
            </a:r>
            <a:r>
              <a:rPr lang="en-US" sz="1050" dirty="0"/>
              <a:t>, which is responsible for managing all booking operations and controlling the hotel reservation process. It acts as the main controller of the application.</a:t>
            </a:r>
          </a:p>
          <a:p>
            <a:pPr>
              <a:lnSpc>
                <a:spcPct val="100000"/>
              </a:lnSpc>
            </a:pPr>
            <a:r>
              <a:rPr lang="en-US" sz="1050" dirty="0"/>
              <a:t>The class manages a maximum of </a:t>
            </a:r>
            <a:r>
              <a:rPr lang="en-US" sz="1050" b="1" dirty="0"/>
              <a:t>30 rooms</a:t>
            </a:r>
            <a:r>
              <a:rPr lang="en-US" sz="1050" dirty="0"/>
              <a:t> and supports up to </a:t>
            </a:r>
            <a:r>
              <a:rPr lang="en-US" sz="1050" b="1" dirty="0"/>
              <a:t>100 bookings</a:t>
            </a:r>
            <a:r>
              <a:rPr lang="en-US" sz="1050" dirty="0"/>
              <a:t>. It also handles data loading and saving automatically to ensure booking information is preserved.</a:t>
            </a:r>
          </a:p>
          <a:p>
            <a:pPr>
              <a:lnSpc>
                <a:spcPct val="100000"/>
              </a:lnSpc>
            </a:pPr>
            <a:r>
              <a:rPr lang="en-US" sz="1050" dirty="0"/>
              <a:t>The main responsibilities of this class include:</a:t>
            </a:r>
          </a:p>
          <a:p>
            <a:pPr marL="0" indent="0">
              <a:lnSpc>
                <a:spcPct val="100000"/>
              </a:lnSpc>
              <a:buNone/>
            </a:pPr>
            <a:r>
              <a:rPr lang="en-US" sz="1050" b="1" dirty="0"/>
              <a:t>Key Functions:</a:t>
            </a:r>
          </a:p>
          <a:p>
            <a:pPr>
              <a:lnSpc>
                <a:spcPct val="100000"/>
              </a:lnSpc>
            </a:pPr>
            <a:r>
              <a:rPr lang="en-US" sz="1050" b="1" dirty="0"/>
              <a:t>Add Booking</a:t>
            </a:r>
            <a:br>
              <a:rPr lang="en-US" sz="1050" dirty="0"/>
            </a:br>
            <a:r>
              <a:rPr lang="en-US" sz="1050" dirty="0"/>
              <a:t>Creates a new reservation after validating room number, number of nights, booking dates, and room availability. It also prevents duplicate bookings during overlapping dates. </a:t>
            </a:r>
          </a:p>
          <a:p>
            <a:pPr>
              <a:lnSpc>
                <a:spcPct val="100000"/>
              </a:lnSpc>
            </a:pPr>
            <a:r>
              <a:rPr lang="en-US" sz="1050" b="1" dirty="0"/>
              <a:t>Cancel Booking</a:t>
            </a:r>
            <a:br>
              <a:rPr lang="en-US" sz="1050" dirty="0"/>
            </a:br>
            <a:r>
              <a:rPr lang="en-US" sz="1050" dirty="0"/>
              <a:t>Removes an existing reservation using the unique booking ID. </a:t>
            </a:r>
          </a:p>
          <a:p>
            <a:pPr>
              <a:lnSpc>
                <a:spcPct val="100000"/>
              </a:lnSpc>
            </a:pPr>
            <a:r>
              <a:rPr lang="en-US" sz="1050" b="1" dirty="0"/>
              <a:t>Search Bookings</a:t>
            </a:r>
            <a:br>
              <a:rPr lang="en-US" sz="1050" dirty="0"/>
            </a:br>
            <a:r>
              <a:rPr lang="en-US" sz="1050" dirty="0"/>
              <a:t>Allows searching reservations by: </a:t>
            </a:r>
          </a:p>
          <a:p>
            <a:pPr lvl="1">
              <a:lnSpc>
                <a:spcPct val="100000"/>
              </a:lnSpc>
            </a:pPr>
            <a:r>
              <a:rPr lang="en-US" sz="1050" dirty="0"/>
              <a:t>Guest name </a:t>
            </a:r>
          </a:p>
          <a:p>
            <a:pPr lvl="1">
              <a:lnSpc>
                <a:spcPct val="100000"/>
              </a:lnSpc>
            </a:pPr>
            <a:r>
              <a:rPr lang="en-US" sz="1050" dirty="0"/>
              <a:t>Room number </a:t>
            </a:r>
          </a:p>
          <a:p>
            <a:pPr>
              <a:lnSpc>
                <a:spcPct val="100000"/>
              </a:lnSpc>
            </a:pPr>
            <a:r>
              <a:rPr lang="en-US" sz="1050" b="1" dirty="0"/>
              <a:t>Check Available Rooms</a:t>
            </a:r>
            <a:br>
              <a:rPr lang="en-US" sz="1050" dirty="0"/>
            </a:br>
            <a:r>
              <a:rPr lang="en-US" sz="1050" dirty="0"/>
              <a:t>Displays all available rooms for a selected date range, with the option to filter by room type. </a:t>
            </a:r>
          </a:p>
          <a:p>
            <a:pPr>
              <a:lnSpc>
                <a:spcPct val="100000"/>
              </a:lnSpc>
            </a:pPr>
            <a:r>
              <a:rPr lang="en-US" sz="1050" b="1" dirty="0"/>
              <a:t>Data Persistence</a:t>
            </a:r>
            <a:br>
              <a:rPr lang="en-US" sz="1050" dirty="0"/>
            </a:br>
            <a:r>
              <a:rPr lang="en-US" sz="1050" dirty="0"/>
              <a:t>Automatically saves booking records and reloads them when the system starts. </a:t>
            </a:r>
          </a:p>
          <a:p>
            <a:pPr>
              <a:lnSpc>
                <a:spcPct val="100000"/>
              </a:lnSpc>
            </a:pPr>
            <a:r>
              <a:rPr lang="en-US" sz="1050" dirty="0"/>
              <a:t>This class serves as the core business logic of the project, ensuring that all hotel operations are handled efficiently and accurately.</a:t>
            </a:r>
          </a:p>
        </p:txBody>
      </p:sp>
      <p:sp>
        <p:nvSpPr>
          <p:cNvPr id="2" name="Text Placeholder 2">
            <a:extLst>
              <a:ext uri="{FF2B5EF4-FFF2-40B4-BE49-F238E27FC236}">
                <a16:creationId xmlns:a16="http://schemas.microsoft.com/office/drawing/2014/main" id="{D3A1E5FB-440D-FDDF-D20C-ABF8CA6376F6}"/>
              </a:ext>
            </a:extLst>
          </p:cNvPr>
          <p:cNvSpPr txBox="1">
            <a:spLocks/>
          </p:cNvSpPr>
          <p:nvPr/>
        </p:nvSpPr>
        <p:spPr>
          <a:xfrm>
            <a:off x="614042" y="1031727"/>
            <a:ext cx="4511675" cy="308049"/>
          </a:xfrm>
          <a:prstGeom prst="rect">
            <a:avLst/>
          </a:prstGeom>
        </p:spPr>
        <p:txBody>
          <a:bodyPr/>
          <a:lstStyle>
            <a:lvl1pPr marL="266700" indent="-266700" algn="l" defTabSz="914400" rtl="0" eaLnBrk="1" latinLnBrk="0" hangingPunct="1">
              <a:lnSpc>
                <a:spcPct val="15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Hotel Class Implementation</a:t>
            </a:r>
          </a:p>
        </p:txBody>
      </p:sp>
    </p:spTree>
    <p:extLst>
      <p:ext uri="{BB962C8B-B14F-4D97-AF65-F5344CB8AC3E}">
        <p14:creationId xmlns:p14="http://schemas.microsoft.com/office/powerpoint/2010/main" val="149744682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D4D9B756-44D0-9904-727C-E6FA190001C6}"/>
              </a:ext>
            </a:extLst>
          </p:cNvPr>
          <p:cNvPicPr>
            <a:picLocks noGrp="1" noChangeAspect="1"/>
          </p:cNvPicPr>
          <p:nvPr>
            <p:ph type="pic" sz="quarter" idx="10"/>
          </p:nvPr>
        </p:nvPicPr>
        <p:blipFill>
          <a:blip r:embed="rId2"/>
          <a:srcRect l="-31" t="-9219" r="-31" b="-9219"/>
          <a:stretch>
            <a:fillRect/>
          </a:stretch>
        </p:blipFill>
        <p:spPr>
          <a:xfrm>
            <a:off x="5733416" y="624239"/>
            <a:ext cx="5855754" cy="56315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Title 3">
            <a:extLst>
              <a:ext uri="{FF2B5EF4-FFF2-40B4-BE49-F238E27FC236}">
                <a16:creationId xmlns:a16="http://schemas.microsoft.com/office/drawing/2014/main" id="{913BBCA8-B3FA-2DAE-0388-25BEAC7BFF43}"/>
              </a:ext>
            </a:extLst>
          </p:cNvPr>
          <p:cNvSpPr>
            <a:spLocks noGrp="1"/>
          </p:cNvSpPr>
          <p:nvPr>
            <p:ph type="title"/>
          </p:nvPr>
        </p:nvSpPr>
        <p:spPr>
          <a:xfrm>
            <a:off x="432000" y="578818"/>
            <a:ext cx="4606925" cy="1347437"/>
          </a:xfrm>
        </p:spPr>
        <p:txBody>
          <a:bodyPr/>
          <a:lstStyle/>
          <a:p>
            <a:r>
              <a:rPr lang="en-US" sz="3600" dirty="0"/>
              <a:t>Console Output Explanation:</a:t>
            </a:r>
          </a:p>
        </p:txBody>
      </p:sp>
      <p:sp>
        <p:nvSpPr>
          <p:cNvPr id="5" name="Rectangle 4">
            <a:extLst>
              <a:ext uri="{FF2B5EF4-FFF2-40B4-BE49-F238E27FC236}">
                <a16:creationId xmlns:a16="http://schemas.microsoft.com/office/drawing/2014/main" id="{045B4197-838D-A6CB-22B0-B5C964C4AFB4}"/>
              </a:ext>
            </a:extLst>
          </p:cNvPr>
          <p:cNvSpPr/>
          <p:nvPr/>
        </p:nvSpPr>
        <p:spPr>
          <a:xfrm>
            <a:off x="432000" y="6257925"/>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3DF92FB2-308A-2E50-E94B-2F8AFEB9B76E}"/>
              </a:ext>
            </a:extLst>
          </p:cNvPr>
          <p:cNvSpPr txBox="1">
            <a:spLocks/>
          </p:cNvSpPr>
          <p:nvPr/>
        </p:nvSpPr>
        <p:spPr>
          <a:xfrm>
            <a:off x="763787" y="1655280"/>
            <a:ext cx="4275138" cy="348190"/>
          </a:xfrm>
          <a:prstGeom prst="rect">
            <a:avLst/>
          </a:prstGeom>
        </p:spPr>
        <p:txBody>
          <a:bodyPr/>
          <a:lstStyle>
            <a:lvl1pPr marL="266700" indent="-266700" algn="l" defTabSz="914400" rtl="0" eaLnBrk="1" latinLnBrk="0" hangingPunct="1">
              <a:lnSpc>
                <a:spcPct val="15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Booking Process Execution</a:t>
            </a:r>
          </a:p>
        </p:txBody>
      </p:sp>
      <p:sp>
        <p:nvSpPr>
          <p:cNvPr id="3" name="Text Placeholder 2">
            <a:extLst>
              <a:ext uri="{FF2B5EF4-FFF2-40B4-BE49-F238E27FC236}">
                <a16:creationId xmlns:a16="http://schemas.microsoft.com/office/drawing/2014/main" id="{E8C9F707-6545-1C5E-E347-5C06E7D29973}"/>
              </a:ext>
            </a:extLst>
          </p:cNvPr>
          <p:cNvSpPr>
            <a:spLocks noGrp="1"/>
          </p:cNvSpPr>
          <p:nvPr>
            <p:ph type="body" sz="quarter" idx="12"/>
          </p:nvPr>
        </p:nvSpPr>
        <p:spPr>
          <a:xfrm>
            <a:off x="763787" y="2080685"/>
            <a:ext cx="4275138" cy="4653490"/>
          </a:xfrm>
        </p:spPr>
        <p:txBody>
          <a:bodyPr/>
          <a:lstStyle/>
          <a:p>
            <a:pPr>
              <a:lnSpc>
                <a:spcPct val="100000"/>
              </a:lnSpc>
            </a:pPr>
            <a:r>
              <a:rPr lang="en-US" sz="1200" dirty="0"/>
              <a:t>This output demonstrates the practical execution of the room booking process within the hotel management system.</a:t>
            </a:r>
          </a:p>
          <a:p>
            <a:pPr>
              <a:lnSpc>
                <a:spcPct val="100000"/>
              </a:lnSpc>
            </a:pPr>
            <a:r>
              <a:rPr lang="en-US" sz="1200" dirty="0"/>
              <a:t>First, the system displays all available </a:t>
            </a:r>
            <a:r>
              <a:rPr lang="en-US" sz="1200" b="1" dirty="0"/>
              <a:t>room categories</a:t>
            </a:r>
            <a:r>
              <a:rPr lang="en-US" sz="1200" dirty="0"/>
              <a:t> and their corresponding room numbers, helping the user choose the appropriate room type.</a:t>
            </a:r>
          </a:p>
          <a:p>
            <a:pPr>
              <a:lnSpc>
                <a:spcPct val="100000"/>
              </a:lnSpc>
            </a:pPr>
            <a:r>
              <a:rPr lang="en-US" sz="1200" dirty="0"/>
              <a:t>The user then enters the required booking information, including:</a:t>
            </a:r>
          </a:p>
          <a:p>
            <a:pPr>
              <a:lnSpc>
                <a:spcPct val="100000"/>
              </a:lnSpc>
            </a:pPr>
            <a:r>
              <a:rPr lang="en-US" sz="1200" dirty="0"/>
              <a:t>Room number </a:t>
            </a:r>
          </a:p>
          <a:p>
            <a:pPr>
              <a:lnSpc>
                <a:spcPct val="100000"/>
              </a:lnSpc>
            </a:pPr>
            <a:r>
              <a:rPr lang="en-US" sz="1200" dirty="0"/>
              <a:t>Guest name </a:t>
            </a:r>
          </a:p>
          <a:p>
            <a:pPr>
              <a:lnSpc>
                <a:spcPct val="100000"/>
              </a:lnSpc>
            </a:pPr>
            <a:r>
              <a:rPr lang="en-US" sz="1200" dirty="0"/>
              <a:t>Number of nights </a:t>
            </a:r>
          </a:p>
          <a:p>
            <a:pPr>
              <a:lnSpc>
                <a:spcPct val="100000"/>
              </a:lnSpc>
            </a:pPr>
            <a:r>
              <a:rPr lang="en-US" sz="1200" dirty="0"/>
              <a:t>Check-in date </a:t>
            </a:r>
          </a:p>
          <a:p>
            <a:pPr>
              <a:lnSpc>
                <a:spcPct val="100000"/>
              </a:lnSpc>
            </a:pPr>
            <a:r>
              <a:rPr lang="en-US" sz="1200" dirty="0"/>
              <a:t>Check-out date </a:t>
            </a:r>
          </a:p>
          <a:p>
            <a:pPr>
              <a:lnSpc>
                <a:spcPct val="100000"/>
              </a:lnSpc>
            </a:pPr>
            <a:r>
              <a:rPr lang="en-US" sz="1200" dirty="0"/>
              <a:t>After receiving the input, the system validates all entered data, including room availability and date correctness. If all conditions are satisfied, the booking is successfully created and stored in the system.</a:t>
            </a:r>
          </a:p>
          <a:p>
            <a:pPr>
              <a:lnSpc>
                <a:spcPct val="100000"/>
              </a:lnSpc>
            </a:pPr>
            <a:r>
              <a:rPr lang="en-US" sz="1200" dirty="0"/>
              <a:t>The final message </a:t>
            </a:r>
            <a:r>
              <a:rPr lang="en-US" sz="1200" b="1" dirty="0"/>
              <a:t>"Booking successful"</a:t>
            </a:r>
            <a:r>
              <a:rPr lang="en-US" sz="1200" dirty="0"/>
              <a:t> confirms that the reservation has been completed without any conflicts or errors.</a:t>
            </a:r>
          </a:p>
        </p:txBody>
      </p:sp>
    </p:spTree>
    <p:extLst>
      <p:ext uri="{BB962C8B-B14F-4D97-AF65-F5344CB8AC3E}">
        <p14:creationId xmlns:p14="http://schemas.microsoft.com/office/powerpoint/2010/main" val="80336512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88E8CF1D-CE37-3DC3-CBD2-FDAB8F279C88}"/>
              </a:ext>
            </a:extLst>
          </p:cNvPr>
          <p:cNvPicPr>
            <a:picLocks noGrp="1" noChangeAspect="1"/>
          </p:cNvPicPr>
          <p:nvPr>
            <p:ph type="pic" sz="quarter" idx="10"/>
          </p:nvPr>
        </p:nvPicPr>
        <p:blipFill>
          <a:blip r:embed="rId2"/>
          <a:srcRect t="6628" b="6628"/>
          <a:stretch>
            <a:fillRect/>
          </a:stretch>
        </p:blipFill>
        <p:spPr>
          <a:xfrm>
            <a:off x="5733416" y="624239"/>
            <a:ext cx="5855754" cy="56315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Title 3">
            <a:extLst>
              <a:ext uri="{FF2B5EF4-FFF2-40B4-BE49-F238E27FC236}">
                <a16:creationId xmlns:a16="http://schemas.microsoft.com/office/drawing/2014/main" id="{8EF03FDC-C714-3177-5E5D-F325F2C4476A}"/>
              </a:ext>
            </a:extLst>
          </p:cNvPr>
          <p:cNvSpPr>
            <a:spLocks noGrp="1"/>
          </p:cNvSpPr>
          <p:nvPr>
            <p:ph type="title"/>
          </p:nvPr>
        </p:nvSpPr>
        <p:spPr>
          <a:xfrm>
            <a:off x="232676" y="125940"/>
            <a:ext cx="5073016" cy="1077487"/>
          </a:xfrm>
        </p:spPr>
        <p:txBody>
          <a:bodyPr/>
          <a:lstStyle/>
          <a:p>
            <a:r>
              <a:rPr lang="en-US" sz="3600" dirty="0"/>
              <a:t>Code Explanation Block3(298-356):</a:t>
            </a:r>
          </a:p>
        </p:txBody>
      </p:sp>
      <p:sp>
        <p:nvSpPr>
          <p:cNvPr id="5" name="Rectangle 4">
            <a:extLst>
              <a:ext uri="{FF2B5EF4-FFF2-40B4-BE49-F238E27FC236}">
                <a16:creationId xmlns:a16="http://schemas.microsoft.com/office/drawing/2014/main" id="{46774095-C125-1A99-C828-2DEB06D5647D}"/>
              </a:ext>
            </a:extLst>
          </p:cNvPr>
          <p:cNvSpPr/>
          <p:nvPr/>
        </p:nvSpPr>
        <p:spPr>
          <a:xfrm>
            <a:off x="441525" y="6255810"/>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9B2C46C-2082-046B-8C54-0F8837D13B00}"/>
              </a:ext>
            </a:extLst>
          </p:cNvPr>
          <p:cNvSpPr>
            <a:spLocks noGrp="1"/>
          </p:cNvSpPr>
          <p:nvPr>
            <p:ph type="body" sz="quarter" idx="12"/>
          </p:nvPr>
        </p:nvSpPr>
        <p:spPr>
          <a:xfrm>
            <a:off x="602830" y="1393244"/>
            <a:ext cx="4275138" cy="5464756"/>
          </a:xfrm>
        </p:spPr>
        <p:txBody>
          <a:bodyPr/>
          <a:lstStyle/>
          <a:p>
            <a:pPr>
              <a:lnSpc>
                <a:spcPct val="100000"/>
              </a:lnSpc>
            </a:pPr>
            <a:r>
              <a:rPr lang="en-US" sz="1000" dirty="0"/>
              <a:t>This part of the system is responsible for </a:t>
            </a:r>
            <a:r>
              <a:rPr lang="en-US" sz="1000" b="1" dirty="0"/>
              <a:t>saving and loading booking data</a:t>
            </a:r>
            <a:r>
              <a:rPr lang="en-US" sz="1000" dirty="0"/>
              <a:t> using CSV file storage. It ensures that all reservation records are preserved even after closing the program.</a:t>
            </a:r>
          </a:p>
          <a:p>
            <a:pPr marL="0" indent="0">
              <a:lnSpc>
                <a:spcPct val="100000"/>
              </a:lnSpc>
              <a:buNone/>
            </a:pPr>
            <a:r>
              <a:rPr lang="en-US" sz="1000" b="1" dirty="0"/>
              <a:t>Main Functions:</a:t>
            </a:r>
          </a:p>
          <a:p>
            <a:pPr>
              <a:lnSpc>
                <a:spcPct val="100000"/>
              </a:lnSpc>
            </a:pPr>
            <a:r>
              <a:rPr lang="en-US" sz="1000" b="1" dirty="0"/>
              <a:t>Load Data</a:t>
            </a:r>
            <a:br>
              <a:rPr lang="en-US" sz="1000" dirty="0"/>
            </a:br>
            <a:r>
              <a:rPr lang="en-US" sz="1000" dirty="0"/>
              <a:t>When the system starts, the load() function reads booking records from the CSV file.</a:t>
            </a:r>
            <a:br>
              <a:rPr lang="en-US" sz="1000" dirty="0"/>
            </a:br>
            <a:r>
              <a:rPr lang="en-US" sz="1000" dirty="0"/>
              <a:t>It validates each record by checking:</a:t>
            </a:r>
          </a:p>
          <a:p>
            <a:pPr lvl="1">
              <a:lnSpc>
                <a:spcPct val="100000"/>
              </a:lnSpc>
            </a:pPr>
            <a:r>
              <a:rPr lang="en-US" sz="1000" dirty="0"/>
              <a:t>Room number validity </a:t>
            </a:r>
          </a:p>
          <a:p>
            <a:pPr lvl="1">
              <a:lnSpc>
                <a:spcPct val="100000"/>
              </a:lnSpc>
            </a:pPr>
            <a:r>
              <a:rPr lang="en-US" sz="1000" dirty="0"/>
              <a:t>Number of nights </a:t>
            </a:r>
          </a:p>
          <a:p>
            <a:pPr lvl="1">
              <a:lnSpc>
                <a:spcPct val="100000"/>
              </a:lnSpc>
            </a:pPr>
            <a:r>
              <a:rPr lang="en-US" sz="1000" dirty="0"/>
              <a:t>Date format and date order </a:t>
            </a:r>
          </a:p>
          <a:p>
            <a:pPr>
              <a:lnSpc>
                <a:spcPct val="100000"/>
              </a:lnSpc>
            </a:pPr>
            <a:r>
              <a:rPr lang="en-US" sz="1000" dirty="0"/>
              <a:t>Only valid booking records are loaded into the system.</a:t>
            </a:r>
          </a:p>
          <a:p>
            <a:pPr>
              <a:lnSpc>
                <a:spcPct val="100000"/>
              </a:lnSpc>
            </a:pPr>
            <a:r>
              <a:rPr lang="en-US" sz="1000" b="1" dirty="0"/>
              <a:t>Save Data</a:t>
            </a:r>
            <a:br>
              <a:rPr lang="en-US" sz="1000" dirty="0"/>
            </a:br>
            <a:r>
              <a:rPr lang="en-US" sz="1000" dirty="0"/>
              <a:t>The save() function stores all current bookings into the CSV file.</a:t>
            </a:r>
            <a:br>
              <a:rPr lang="en-US" sz="1000" dirty="0"/>
            </a:br>
            <a:r>
              <a:rPr lang="en-US" sz="1000" dirty="0"/>
              <a:t>Each reservation is saved with important details such as: </a:t>
            </a:r>
          </a:p>
          <a:p>
            <a:pPr lvl="1">
              <a:lnSpc>
                <a:spcPct val="100000"/>
              </a:lnSpc>
            </a:pPr>
            <a:r>
              <a:rPr lang="en-US" sz="1000" dirty="0"/>
              <a:t>Booking ID </a:t>
            </a:r>
          </a:p>
          <a:p>
            <a:pPr lvl="1">
              <a:lnSpc>
                <a:spcPct val="100000"/>
              </a:lnSpc>
            </a:pPr>
            <a:r>
              <a:rPr lang="en-US" sz="1000" dirty="0"/>
              <a:t>Guest name </a:t>
            </a:r>
          </a:p>
          <a:p>
            <a:pPr lvl="1">
              <a:lnSpc>
                <a:spcPct val="100000"/>
              </a:lnSpc>
            </a:pPr>
            <a:r>
              <a:rPr lang="en-US" sz="1000" dirty="0"/>
              <a:t>Room number </a:t>
            </a:r>
          </a:p>
          <a:p>
            <a:pPr lvl="1">
              <a:lnSpc>
                <a:spcPct val="100000"/>
              </a:lnSpc>
            </a:pPr>
            <a:r>
              <a:rPr lang="en-US" sz="1000" dirty="0"/>
              <a:t>Number of nights </a:t>
            </a:r>
          </a:p>
          <a:p>
            <a:pPr lvl="1">
              <a:lnSpc>
                <a:spcPct val="100000"/>
              </a:lnSpc>
            </a:pPr>
            <a:r>
              <a:rPr lang="en-US" sz="1000" dirty="0"/>
              <a:t>Check-in date </a:t>
            </a:r>
          </a:p>
          <a:p>
            <a:pPr lvl="1">
              <a:lnSpc>
                <a:spcPct val="100000"/>
              </a:lnSpc>
            </a:pPr>
            <a:r>
              <a:rPr lang="en-US" sz="1000" dirty="0"/>
              <a:t>Check-out date </a:t>
            </a:r>
          </a:p>
          <a:p>
            <a:pPr>
              <a:lnSpc>
                <a:spcPct val="100000"/>
              </a:lnSpc>
            </a:pPr>
            <a:r>
              <a:rPr lang="en-US" sz="1000" b="1" dirty="0"/>
              <a:t>Automatic ID Management</a:t>
            </a:r>
            <a:br>
              <a:rPr lang="en-US" sz="1000" dirty="0"/>
            </a:br>
            <a:r>
              <a:rPr lang="en-US" sz="1000" dirty="0"/>
              <a:t>The system tracks the highest booking ID and automatically generates the next available ID for new reservations. </a:t>
            </a:r>
          </a:p>
          <a:p>
            <a:pPr>
              <a:lnSpc>
                <a:spcPct val="100000"/>
              </a:lnSpc>
            </a:pPr>
            <a:r>
              <a:rPr lang="en-US" sz="1000" dirty="0"/>
              <a:t>This mechanism guarantees </a:t>
            </a:r>
            <a:r>
              <a:rPr lang="en-US" sz="1000" b="1" dirty="0"/>
              <a:t>data persistence, accuracy, and reliable record management</a:t>
            </a:r>
            <a:r>
              <a:rPr lang="en-US" sz="1000" dirty="0"/>
              <a:t> throughout system operation.</a:t>
            </a:r>
          </a:p>
        </p:txBody>
      </p:sp>
      <p:sp>
        <p:nvSpPr>
          <p:cNvPr id="2" name="Text Placeholder 2">
            <a:extLst>
              <a:ext uri="{FF2B5EF4-FFF2-40B4-BE49-F238E27FC236}">
                <a16:creationId xmlns:a16="http://schemas.microsoft.com/office/drawing/2014/main" id="{34C4B0BE-3942-BB33-2AF1-0DDF5F725DA9}"/>
              </a:ext>
            </a:extLst>
          </p:cNvPr>
          <p:cNvSpPr txBox="1">
            <a:spLocks/>
          </p:cNvSpPr>
          <p:nvPr/>
        </p:nvSpPr>
        <p:spPr>
          <a:xfrm>
            <a:off x="602830" y="1146465"/>
            <a:ext cx="4275138" cy="273631"/>
          </a:xfrm>
          <a:prstGeom prst="rect">
            <a:avLst/>
          </a:prstGeom>
        </p:spPr>
        <p:txBody>
          <a:bodyPr/>
          <a:lstStyle>
            <a:lvl1pPr marL="266700" indent="-266700" algn="l" defTabSz="914400" rtl="0" eaLnBrk="1" latinLnBrk="0" hangingPunct="1">
              <a:lnSpc>
                <a:spcPct val="15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100" b="1" dirty="0"/>
              <a:t>Data Storage and File Management</a:t>
            </a:r>
          </a:p>
        </p:txBody>
      </p:sp>
    </p:spTree>
    <p:extLst>
      <p:ext uri="{BB962C8B-B14F-4D97-AF65-F5344CB8AC3E}">
        <p14:creationId xmlns:p14="http://schemas.microsoft.com/office/powerpoint/2010/main" val="29408402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D84E6-D83C-5DB7-D7C8-7026CE8D9A06}"/>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BC62EC3F-18C8-7BFA-979C-E417381949AF}"/>
              </a:ext>
            </a:extLst>
          </p:cNvPr>
          <p:cNvPicPr>
            <a:picLocks noGrp="1" noChangeAspect="1"/>
          </p:cNvPicPr>
          <p:nvPr>
            <p:ph type="pic" sz="quarter" idx="10"/>
          </p:nvPr>
        </p:nvPicPr>
        <p:blipFill>
          <a:blip r:embed="rId2"/>
          <a:srcRect t="396" b="396"/>
          <a:stretch/>
        </p:blipFill>
        <p:spPr>
          <a:xfrm>
            <a:off x="5733416" y="624239"/>
            <a:ext cx="5855754" cy="56315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Text Placeholder 2">
            <a:extLst>
              <a:ext uri="{FF2B5EF4-FFF2-40B4-BE49-F238E27FC236}">
                <a16:creationId xmlns:a16="http://schemas.microsoft.com/office/drawing/2014/main" id="{17F7BF2F-DEC8-F1BF-13B2-0DFCD660765A}"/>
              </a:ext>
            </a:extLst>
          </p:cNvPr>
          <p:cNvSpPr>
            <a:spLocks noGrp="1"/>
          </p:cNvSpPr>
          <p:nvPr>
            <p:ph type="body" sz="quarter" idx="12"/>
          </p:nvPr>
        </p:nvSpPr>
        <p:spPr>
          <a:xfrm>
            <a:off x="660400" y="2044700"/>
            <a:ext cx="4275138" cy="4337050"/>
          </a:xfrm>
        </p:spPr>
        <p:txBody>
          <a:bodyPr/>
          <a:lstStyle/>
          <a:p>
            <a:r>
              <a:rPr lang="en-US" sz="1200" dirty="0"/>
              <a:t>The </a:t>
            </a:r>
            <a:r>
              <a:rPr lang="en-US" sz="1800" b="1" dirty="0" err="1"/>
              <a:t>ConsoleUI</a:t>
            </a:r>
            <a:r>
              <a:rPr lang="en-US" sz="1200" dirty="0"/>
              <a:t> class is responsible for managing all user interactions in the hotel system through a simple console menu.</a:t>
            </a:r>
          </a:p>
          <a:p>
            <a:r>
              <a:rPr lang="en-US" sz="1200" dirty="0"/>
              <a:t>It provides a continuous menu-driven interface that allows users to perform different actions such as booking rooms, viewing bookings, canceling reservations, searching, and checking available rooms.</a:t>
            </a:r>
          </a:p>
          <a:p>
            <a:r>
              <a:rPr lang="en-US" sz="1200" dirty="0"/>
              <a:t>The system keeps running in a loop until the user chooses to exit, ensuring smooth and continuous interaction.</a:t>
            </a:r>
          </a:p>
          <a:p>
            <a:r>
              <a:rPr lang="en-US" sz="1200" dirty="0"/>
              <a:t>User input is validated to prevent errors, and each menu option is linked to a specific function in the hotel system.</a:t>
            </a:r>
          </a:p>
          <a:p>
            <a:r>
              <a:rPr lang="en-US" sz="1200" dirty="0"/>
              <a:t>Overall, this class acts as the main bridge between the user and the hotel management logic.</a:t>
            </a:r>
          </a:p>
        </p:txBody>
      </p:sp>
      <p:sp>
        <p:nvSpPr>
          <p:cNvPr id="4" name="Title 3">
            <a:extLst>
              <a:ext uri="{FF2B5EF4-FFF2-40B4-BE49-F238E27FC236}">
                <a16:creationId xmlns:a16="http://schemas.microsoft.com/office/drawing/2014/main" id="{798A89AE-A99A-2B1F-3083-5F86A18172EF}"/>
              </a:ext>
            </a:extLst>
          </p:cNvPr>
          <p:cNvSpPr>
            <a:spLocks noGrp="1"/>
          </p:cNvSpPr>
          <p:nvPr>
            <p:ph type="title"/>
          </p:nvPr>
        </p:nvSpPr>
        <p:spPr>
          <a:xfrm>
            <a:off x="261461" y="476250"/>
            <a:ext cx="5073016" cy="1077487"/>
          </a:xfrm>
        </p:spPr>
        <p:txBody>
          <a:bodyPr/>
          <a:lstStyle/>
          <a:p>
            <a:r>
              <a:rPr lang="en-US" sz="3600" dirty="0"/>
              <a:t>Code Explanation Block3(357-390):</a:t>
            </a:r>
          </a:p>
        </p:txBody>
      </p:sp>
      <p:sp>
        <p:nvSpPr>
          <p:cNvPr id="5" name="Rectangle 4">
            <a:extLst>
              <a:ext uri="{FF2B5EF4-FFF2-40B4-BE49-F238E27FC236}">
                <a16:creationId xmlns:a16="http://schemas.microsoft.com/office/drawing/2014/main" id="{A5AC295A-455B-E531-4BF7-C3A59A39EF87}"/>
              </a:ext>
            </a:extLst>
          </p:cNvPr>
          <p:cNvSpPr/>
          <p:nvPr/>
        </p:nvSpPr>
        <p:spPr>
          <a:xfrm>
            <a:off x="441525" y="6255810"/>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EFEF28D3-0B55-016F-F2E4-E5008A379D2A}"/>
              </a:ext>
            </a:extLst>
          </p:cNvPr>
          <p:cNvSpPr txBox="1">
            <a:spLocks/>
          </p:cNvSpPr>
          <p:nvPr/>
        </p:nvSpPr>
        <p:spPr>
          <a:xfrm>
            <a:off x="602830" y="1694390"/>
            <a:ext cx="4275138" cy="376765"/>
          </a:xfrm>
          <a:prstGeom prst="rect">
            <a:avLst/>
          </a:prstGeom>
        </p:spPr>
        <p:txBody>
          <a:bodyPr/>
          <a:lstStyle>
            <a:lvl1pPr marL="266700" indent="-266700" algn="l" defTabSz="914400" rtl="0" eaLnBrk="1" latinLnBrk="0" hangingPunct="1">
              <a:lnSpc>
                <a:spcPct val="15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err="1"/>
              <a:t>ConsoleUI</a:t>
            </a:r>
            <a:r>
              <a:rPr lang="en-US" sz="1400" b="1" dirty="0"/>
              <a:t> Class Overview</a:t>
            </a:r>
          </a:p>
        </p:txBody>
      </p:sp>
    </p:spTree>
    <p:extLst>
      <p:ext uri="{BB962C8B-B14F-4D97-AF65-F5344CB8AC3E}">
        <p14:creationId xmlns:p14="http://schemas.microsoft.com/office/powerpoint/2010/main" val="343948241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9B05BCEA-5C9F-82F6-FDC6-DE505D89B154}"/>
              </a:ext>
            </a:extLst>
          </p:cNvPr>
          <p:cNvPicPr>
            <a:picLocks noGrp="1" noChangeAspect="1"/>
          </p:cNvPicPr>
          <p:nvPr>
            <p:ph type="pic" sz="quarter" idx="10"/>
          </p:nvPr>
        </p:nvPicPr>
        <p:blipFill>
          <a:blip r:embed="rId2"/>
          <a:srcRect l="-31" t="-3093" r="-31" b="-3093"/>
          <a:stretch>
            <a:fillRect/>
          </a:stretch>
        </p:blipFill>
        <p:spPr>
          <a:xfrm>
            <a:off x="5733416" y="624239"/>
            <a:ext cx="5855754" cy="56315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Text Placeholder 2">
            <a:extLst>
              <a:ext uri="{FF2B5EF4-FFF2-40B4-BE49-F238E27FC236}">
                <a16:creationId xmlns:a16="http://schemas.microsoft.com/office/drawing/2014/main" id="{4F5D8646-D793-C841-8395-6B1A5E36761C}"/>
              </a:ext>
            </a:extLst>
          </p:cNvPr>
          <p:cNvSpPr>
            <a:spLocks noGrp="1"/>
          </p:cNvSpPr>
          <p:nvPr>
            <p:ph type="body" sz="quarter" idx="12"/>
          </p:nvPr>
        </p:nvSpPr>
        <p:spPr>
          <a:xfrm>
            <a:off x="660400" y="2044700"/>
            <a:ext cx="4275138" cy="4211110"/>
          </a:xfrm>
        </p:spPr>
        <p:txBody>
          <a:bodyPr/>
          <a:lstStyle/>
          <a:p>
            <a:r>
              <a:rPr lang="en-US" sz="1200" dirty="0"/>
              <a:t>This screen shows the system displaying all current bookings with full details such as customer name, room number, booking duration, and dates.</a:t>
            </a:r>
          </a:p>
          <a:p>
            <a:r>
              <a:rPr lang="en-US" sz="1200" dirty="0"/>
              <a:t>It also demonstrates the cancellation feature, where the user selects a booking by its ID and successfully removes it from the system.</a:t>
            </a:r>
          </a:p>
          <a:p>
            <a:r>
              <a:rPr lang="en-US" sz="1200" dirty="0"/>
              <a:t>This reflects the system’s ability to:</a:t>
            </a:r>
          </a:p>
          <a:p>
            <a:r>
              <a:rPr lang="en-US" sz="1200" dirty="0"/>
              <a:t>Display real-time booking data </a:t>
            </a:r>
          </a:p>
          <a:p>
            <a:r>
              <a:rPr lang="en-US" sz="1200" dirty="0"/>
              <a:t>Manage reservations dynamically </a:t>
            </a:r>
          </a:p>
          <a:p>
            <a:r>
              <a:rPr lang="en-US" sz="1200" dirty="0"/>
              <a:t>Allow safe cancellation with user confirmation </a:t>
            </a:r>
          </a:p>
          <a:p>
            <a:r>
              <a:rPr lang="en-US" sz="1200" dirty="0"/>
              <a:t>Overall, it proves that the system handles both data retrieval and modification efficiently</a:t>
            </a:r>
            <a:r>
              <a:rPr lang="ar-EG" sz="1200" dirty="0"/>
              <a:t>.</a:t>
            </a:r>
            <a:endParaRPr lang="en-US" sz="1200" dirty="0"/>
          </a:p>
        </p:txBody>
      </p:sp>
      <p:sp>
        <p:nvSpPr>
          <p:cNvPr id="4" name="Title 3">
            <a:extLst>
              <a:ext uri="{FF2B5EF4-FFF2-40B4-BE49-F238E27FC236}">
                <a16:creationId xmlns:a16="http://schemas.microsoft.com/office/drawing/2014/main" id="{5A0CD509-7308-3B2E-91B0-F472E9D906A7}"/>
              </a:ext>
            </a:extLst>
          </p:cNvPr>
          <p:cNvSpPr>
            <a:spLocks noGrp="1"/>
          </p:cNvSpPr>
          <p:nvPr>
            <p:ph type="title"/>
          </p:nvPr>
        </p:nvSpPr>
        <p:spPr>
          <a:xfrm>
            <a:off x="432000" y="578818"/>
            <a:ext cx="4664075" cy="1347437"/>
          </a:xfrm>
        </p:spPr>
        <p:txBody>
          <a:bodyPr/>
          <a:lstStyle/>
          <a:p>
            <a:r>
              <a:rPr lang="en-US" sz="3600" dirty="0"/>
              <a:t>Console Output Explanation:</a:t>
            </a:r>
          </a:p>
        </p:txBody>
      </p:sp>
      <p:sp>
        <p:nvSpPr>
          <p:cNvPr id="5" name="Rectangle 4">
            <a:extLst>
              <a:ext uri="{FF2B5EF4-FFF2-40B4-BE49-F238E27FC236}">
                <a16:creationId xmlns:a16="http://schemas.microsoft.com/office/drawing/2014/main" id="{ED9A7395-BA18-4BB2-2DED-7A0D6D87188F}"/>
              </a:ext>
            </a:extLst>
          </p:cNvPr>
          <p:cNvSpPr/>
          <p:nvPr/>
        </p:nvSpPr>
        <p:spPr>
          <a:xfrm>
            <a:off x="432000" y="6257925"/>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7188CDD7-49FF-4E8B-634D-6A452A748B34}"/>
              </a:ext>
            </a:extLst>
          </p:cNvPr>
          <p:cNvSpPr txBox="1">
            <a:spLocks/>
          </p:cNvSpPr>
          <p:nvPr/>
        </p:nvSpPr>
        <p:spPr>
          <a:xfrm>
            <a:off x="602830" y="1667978"/>
            <a:ext cx="4275138" cy="317500"/>
          </a:xfrm>
          <a:prstGeom prst="rect">
            <a:avLst/>
          </a:prstGeom>
        </p:spPr>
        <p:txBody>
          <a:bodyPr/>
          <a:lstStyle>
            <a:lvl1pPr marL="266700" indent="-266700" algn="l" defTabSz="914400" rtl="0" eaLnBrk="1" latinLnBrk="0" hangingPunct="1">
              <a:lnSpc>
                <a:spcPct val="150000"/>
              </a:lnSpc>
              <a:spcBef>
                <a:spcPts val="10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Clr>
                <a:schemeClr val="accent4"/>
              </a:buClr>
              <a:buFont typeface="Wingdings" panose="05000000000000000000" pitchFamily="2" charset="2"/>
              <a:buChar char="§"/>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Clr>
                <a:schemeClr val="accent4"/>
              </a:buClr>
              <a:buFont typeface="Wingdings" panose="05000000000000000000" pitchFamily="2" charset="2"/>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Bookings Management &amp; Cancellation (Runtime Output)</a:t>
            </a:r>
          </a:p>
        </p:txBody>
      </p:sp>
    </p:spTree>
    <p:extLst>
      <p:ext uri="{BB962C8B-B14F-4D97-AF65-F5344CB8AC3E}">
        <p14:creationId xmlns:p14="http://schemas.microsoft.com/office/powerpoint/2010/main" val="203306201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A348D-9863-B32B-3514-E19855BA27CA}"/>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883A17E2-2733-17EF-CCBD-21D9E154C948}"/>
              </a:ext>
            </a:extLst>
          </p:cNvPr>
          <p:cNvPicPr>
            <a:picLocks noGrp="1" noChangeAspect="1"/>
          </p:cNvPicPr>
          <p:nvPr>
            <p:ph type="pic" sz="quarter" idx="10"/>
          </p:nvPr>
        </p:nvPicPr>
        <p:blipFill>
          <a:blip r:embed="rId2"/>
          <a:srcRect t="28004" b="28004"/>
          <a:stretch>
            <a:fillRect/>
          </a:stretch>
        </p:blipFill>
        <p:spPr>
          <a:xfrm>
            <a:off x="5733416" y="624239"/>
            <a:ext cx="5855754" cy="56315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Text Placeholder 2">
            <a:extLst>
              <a:ext uri="{FF2B5EF4-FFF2-40B4-BE49-F238E27FC236}">
                <a16:creationId xmlns:a16="http://schemas.microsoft.com/office/drawing/2014/main" id="{5A2DD2DF-147E-475C-BF51-3D665F68CB5B}"/>
              </a:ext>
            </a:extLst>
          </p:cNvPr>
          <p:cNvSpPr>
            <a:spLocks noGrp="1"/>
          </p:cNvSpPr>
          <p:nvPr>
            <p:ph type="body" sz="quarter" idx="12"/>
          </p:nvPr>
        </p:nvSpPr>
        <p:spPr>
          <a:xfrm>
            <a:off x="735689" y="2395010"/>
            <a:ext cx="4275138" cy="4098925"/>
          </a:xfrm>
        </p:spPr>
        <p:txBody>
          <a:bodyPr/>
          <a:lstStyle/>
          <a:p>
            <a:pPr>
              <a:lnSpc>
                <a:spcPct val="100000"/>
              </a:lnSpc>
            </a:pPr>
            <a:r>
              <a:rPr lang="en-US" sz="1200" b="1" dirty="0"/>
              <a:t>Concise explanation for presentation slides:</a:t>
            </a:r>
          </a:p>
          <a:p>
            <a:pPr>
              <a:lnSpc>
                <a:spcPct val="100000"/>
              </a:lnSpc>
            </a:pPr>
            <a:r>
              <a:rPr lang="en-US" sz="1200" dirty="0"/>
              <a:t>It contains a reference to the Hotel object (hotel_), which is used to perform all main operations like booking, canceling, and searching. </a:t>
            </a:r>
          </a:p>
          <a:p>
            <a:pPr>
              <a:lnSpc>
                <a:spcPct val="100000"/>
              </a:lnSpc>
            </a:pPr>
            <a:r>
              <a:rPr lang="en-US" sz="1200" b="1" dirty="0"/>
              <a:t>Input helper functions:</a:t>
            </a:r>
          </a:p>
          <a:p>
            <a:pPr>
              <a:lnSpc>
                <a:spcPct val="100000"/>
              </a:lnSpc>
            </a:pPr>
            <a:r>
              <a:rPr lang="en-US" sz="1200" dirty="0" err="1"/>
              <a:t>discardLine</a:t>
            </a:r>
            <a:r>
              <a:rPr lang="en-US" sz="1200" dirty="0"/>
              <a:t>() → Clears input buffer to avoid input errors. </a:t>
            </a:r>
          </a:p>
          <a:p>
            <a:pPr>
              <a:lnSpc>
                <a:spcPct val="100000"/>
              </a:lnSpc>
            </a:pPr>
            <a:r>
              <a:rPr lang="en-US" sz="1200" dirty="0" err="1"/>
              <a:t>readIntRetry</a:t>
            </a:r>
            <a:r>
              <a:rPr lang="en-US" sz="1200" dirty="0"/>
              <a:t>() → Reads integers safely with validation and retry on failure. </a:t>
            </a:r>
          </a:p>
          <a:p>
            <a:pPr>
              <a:lnSpc>
                <a:spcPct val="100000"/>
              </a:lnSpc>
            </a:pPr>
            <a:r>
              <a:rPr lang="en-US" sz="1200" dirty="0" err="1"/>
              <a:t>readLineNonEmpty</a:t>
            </a:r>
            <a:r>
              <a:rPr lang="en-US" sz="1200" dirty="0"/>
              <a:t>() → Ensures user enters non-empty text input. </a:t>
            </a:r>
          </a:p>
          <a:p>
            <a:pPr>
              <a:lnSpc>
                <a:spcPct val="100000"/>
              </a:lnSpc>
            </a:pPr>
            <a:r>
              <a:rPr lang="en-US" sz="1200" dirty="0" err="1"/>
              <a:t>readDateRetry</a:t>
            </a:r>
            <a:r>
              <a:rPr lang="en-US" sz="1200" dirty="0"/>
              <a:t>() → Reads and validates date input in YYYY-MM-DD format. </a:t>
            </a:r>
          </a:p>
          <a:p>
            <a:pPr>
              <a:lnSpc>
                <a:spcPct val="100000"/>
              </a:lnSpc>
            </a:pPr>
            <a:r>
              <a:rPr lang="en-US" sz="1200" b="1" dirty="0"/>
              <a:t>Room type handling:</a:t>
            </a:r>
          </a:p>
          <a:p>
            <a:pPr>
              <a:lnSpc>
                <a:spcPct val="100000"/>
              </a:lnSpc>
            </a:pPr>
            <a:r>
              <a:rPr lang="en-US" sz="1200" dirty="0" err="1"/>
              <a:t>readRoomTypeOptional</a:t>
            </a:r>
            <a:r>
              <a:rPr lang="en-US" sz="1200" dirty="0"/>
              <a:t>() → Allows filtering rooms by type (Standard, Deluxe, Suite, or All). </a:t>
            </a:r>
          </a:p>
        </p:txBody>
      </p:sp>
      <p:sp>
        <p:nvSpPr>
          <p:cNvPr id="4" name="Title 3">
            <a:extLst>
              <a:ext uri="{FF2B5EF4-FFF2-40B4-BE49-F238E27FC236}">
                <a16:creationId xmlns:a16="http://schemas.microsoft.com/office/drawing/2014/main" id="{5D2A2545-D928-A19C-B07B-1BB324671924}"/>
              </a:ext>
            </a:extLst>
          </p:cNvPr>
          <p:cNvSpPr>
            <a:spLocks noGrp="1"/>
          </p:cNvSpPr>
          <p:nvPr>
            <p:ph type="title"/>
          </p:nvPr>
        </p:nvSpPr>
        <p:spPr>
          <a:xfrm>
            <a:off x="336750" y="996369"/>
            <a:ext cx="5073016" cy="1077487"/>
          </a:xfrm>
        </p:spPr>
        <p:txBody>
          <a:bodyPr/>
          <a:lstStyle/>
          <a:p>
            <a:r>
              <a:rPr lang="en-US" sz="3600" dirty="0"/>
              <a:t>Code Explanation Block3(392-548):</a:t>
            </a:r>
          </a:p>
        </p:txBody>
      </p:sp>
      <p:sp>
        <p:nvSpPr>
          <p:cNvPr id="5" name="Rectangle 4">
            <a:extLst>
              <a:ext uri="{FF2B5EF4-FFF2-40B4-BE49-F238E27FC236}">
                <a16:creationId xmlns:a16="http://schemas.microsoft.com/office/drawing/2014/main" id="{F3873CBC-A2C0-B912-BB24-846C6E7DD12F}"/>
              </a:ext>
            </a:extLst>
          </p:cNvPr>
          <p:cNvSpPr/>
          <p:nvPr/>
        </p:nvSpPr>
        <p:spPr>
          <a:xfrm>
            <a:off x="441525" y="6255810"/>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180160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E999B-133B-5E77-D633-4ABA7C8BA56A}"/>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0C4C0D3F-FF2C-3B7E-C09F-6A710E7F1B04}"/>
              </a:ext>
            </a:extLst>
          </p:cNvPr>
          <p:cNvPicPr>
            <a:picLocks noGrp="1" noChangeAspect="1"/>
          </p:cNvPicPr>
          <p:nvPr>
            <p:ph type="pic" sz="quarter" idx="10"/>
          </p:nvPr>
        </p:nvPicPr>
        <p:blipFill>
          <a:blip r:embed="rId2"/>
          <a:srcRect l="9975" r="9975"/>
          <a:stretch>
            <a:fillRect/>
          </a:stretch>
        </p:blipFill>
        <p:spPr>
          <a:xfrm>
            <a:off x="5733416" y="624239"/>
            <a:ext cx="5855754" cy="56315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Title 3">
            <a:extLst>
              <a:ext uri="{FF2B5EF4-FFF2-40B4-BE49-F238E27FC236}">
                <a16:creationId xmlns:a16="http://schemas.microsoft.com/office/drawing/2014/main" id="{AF57AB6B-7A5A-566E-7AD1-05B14D85B923}"/>
              </a:ext>
            </a:extLst>
          </p:cNvPr>
          <p:cNvSpPr>
            <a:spLocks noGrp="1"/>
          </p:cNvSpPr>
          <p:nvPr>
            <p:ph type="title"/>
          </p:nvPr>
        </p:nvSpPr>
        <p:spPr>
          <a:xfrm>
            <a:off x="336750" y="853494"/>
            <a:ext cx="5073016" cy="1077487"/>
          </a:xfrm>
        </p:spPr>
        <p:txBody>
          <a:bodyPr/>
          <a:lstStyle/>
          <a:p>
            <a:r>
              <a:rPr lang="en-US" sz="3600" dirty="0"/>
              <a:t>Code Explanation Block3(549-554):</a:t>
            </a:r>
          </a:p>
        </p:txBody>
      </p:sp>
      <p:sp>
        <p:nvSpPr>
          <p:cNvPr id="5" name="Rectangle 4">
            <a:extLst>
              <a:ext uri="{FF2B5EF4-FFF2-40B4-BE49-F238E27FC236}">
                <a16:creationId xmlns:a16="http://schemas.microsoft.com/office/drawing/2014/main" id="{B9DEB91E-5143-37B4-AAE9-90FEE5F412C5}"/>
              </a:ext>
            </a:extLst>
          </p:cNvPr>
          <p:cNvSpPr/>
          <p:nvPr/>
        </p:nvSpPr>
        <p:spPr>
          <a:xfrm>
            <a:off x="441525" y="6255810"/>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01D0A63D-E4DD-B5BB-0D97-E78743828F8C}"/>
              </a:ext>
            </a:extLst>
          </p:cNvPr>
          <p:cNvSpPr>
            <a:spLocks noGrp="1"/>
          </p:cNvSpPr>
          <p:nvPr>
            <p:ph type="body" sz="quarter" idx="12"/>
          </p:nvPr>
        </p:nvSpPr>
        <p:spPr>
          <a:xfrm>
            <a:off x="660400" y="2044700"/>
            <a:ext cx="4275138" cy="4489450"/>
          </a:xfrm>
        </p:spPr>
        <p:txBody>
          <a:bodyPr/>
          <a:lstStyle/>
          <a:p>
            <a:r>
              <a:rPr lang="en-US" sz="1200" b="1" dirty="0"/>
              <a:t>Main Function Explanation (for presentation slide)</a:t>
            </a:r>
          </a:p>
          <a:p>
            <a:r>
              <a:rPr lang="en-US" sz="1200" dirty="0"/>
              <a:t>This is the </a:t>
            </a:r>
            <a:r>
              <a:rPr lang="en-US" sz="1200" b="1" dirty="0"/>
              <a:t>entry point of the program</a:t>
            </a:r>
            <a:r>
              <a:rPr lang="en-US" sz="1200" dirty="0"/>
              <a:t> where execution starts. </a:t>
            </a:r>
          </a:p>
          <a:p>
            <a:r>
              <a:rPr lang="en-US" sz="1200" dirty="0"/>
              <a:t>A Hotel object is created: </a:t>
            </a:r>
          </a:p>
          <a:p>
            <a:pPr lvl="1"/>
            <a:r>
              <a:rPr lang="en-US" sz="1200" dirty="0"/>
              <a:t>Hotel hotel("bookings.csv"); </a:t>
            </a:r>
          </a:p>
          <a:p>
            <a:pPr lvl="1"/>
            <a:r>
              <a:rPr lang="en-US" sz="1200" dirty="0"/>
              <a:t>It loads or manages booking data stored in the file bookings.csv. </a:t>
            </a:r>
          </a:p>
          <a:p>
            <a:r>
              <a:rPr lang="en-US" sz="1200" dirty="0"/>
              <a:t>A </a:t>
            </a:r>
            <a:r>
              <a:rPr lang="en-US" sz="1200" dirty="0" err="1"/>
              <a:t>ConsoleUI</a:t>
            </a:r>
            <a:r>
              <a:rPr lang="en-US" sz="1200" dirty="0"/>
              <a:t> object is created: </a:t>
            </a:r>
          </a:p>
          <a:p>
            <a:pPr lvl="1"/>
            <a:r>
              <a:rPr lang="en-US" sz="1200" dirty="0" err="1"/>
              <a:t>ConsoleUI</a:t>
            </a:r>
            <a:r>
              <a:rPr lang="en-US" sz="1200" dirty="0"/>
              <a:t> </a:t>
            </a:r>
            <a:r>
              <a:rPr lang="en-US" sz="1200" dirty="0" err="1"/>
              <a:t>ui</a:t>
            </a:r>
            <a:r>
              <a:rPr lang="en-US" sz="1200" dirty="0"/>
              <a:t>(hotel); </a:t>
            </a:r>
          </a:p>
          <a:p>
            <a:pPr lvl="1"/>
            <a:r>
              <a:rPr lang="en-US" sz="1200" dirty="0"/>
              <a:t>It connects the user interface with the hotel system so the UI can perform operations on hotel data. </a:t>
            </a:r>
          </a:p>
          <a:p>
            <a:r>
              <a:rPr lang="en-US" sz="1200" dirty="0"/>
              <a:t>The program starts running: </a:t>
            </a:r>
          </a:p>
          <a:p>
            <a:pPr lvl="1"/>
            <a:r>
              <a:rPr lang="en-US" sz="1200" dirty="0" err="1"/>
              <a:t>ui.run</a:t>
            </a:r>
            <a:r>
              <a:rPr lang="en-US" sz="1200" dirty="0"/>
              <a:t>(); </a:t>
            </a:r>
          </a:p>
          <a:p>
            <a:pPr lvl="1"/>
            <a:r>
              <a:rPr lang="en-US" sz="1200" dirty="0"/>
              <a:t>This launches the main menu loop where the user can interact with the system (book, cancel, search, etc.). </a:t>
            </a:r>
          </a:p>
          <a:p>
            <a:r>
              <a:rPr lang="en-US" sz="1200" dirty="0"/>
              <a:t>Finally: </a:t>
            </a:r>
          </a:p>
          <a:p>
            <a:pPr lvl="1"/>
            <a:r>
              <a:rPr lang="en-US" sz="1200" dirty="0"/>
              <a:t>return 0; indicates the program ended successfully.</a:t>
            </a:r>
          </a:p>
        </p:txBody>
      </p:sp>
    </p:spTree>
    <p:extLst>
      <p:ext uri="{BB962C8B-B14F-4D97-AF65-F5344CB8AC3E}">
        <p14:creationId xmlns:p14="http://schemas.microsoft.com/office/powerpoint/2010/main" val="89526086"/>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90D8C-3A14-A7EA-4857-17AB58CDDEFA}"/>
            </a:ext>
          </a:extLst>
        </p:cNvPr>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230D968-D9FE-CC72-ED19-7278BDFD79AC}"/>
              </a:ext>
            </a:extLst>
          </p:cNvPr>
          <p:cNvPicPr>
            <a:picLocks noGrp="1" noChangeAspect="1"/>
          </p:cNvPicPr>
          <p:nvPr>
            <p:ph type="pic" sz="quarter" idx="10"/>
          </p:nvPr>
        </p:nvPicPr>
        <p:blipFill>
          <a:blip r:embed="rId2"/>
          <a:srcRect l="-3366" t="-3093" r="-3366" b="-3093"/>
          <a:stretch>
            <a:fillRect/>
          </a:stretch>
        </p:blipFill>
        <p:spPr>
          <a:xfrm>
            <a:off x="5733416" y="624239"/>
            <a:ext cx="5855754" cy="56315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Text Placeholder 2">
            <a:extLst>
              <a:ext uri="{FF2B5EF4-FFF2-40B4-BE49-F238E27FC236}">
                <a16:creationId xmlns:a16="http://schemas.microsoft.com/office/drawing/2014/main" id="{768E8CCB-50FA-CEBD-9C85-6D5EC74B90AB}"/>
              </a:ext>
            </a:extLst>
          </p:cNvPr>
          <p:cNvSpPr>
            <a:spLocks noGrp="1"/>
          </p:cNvSpPr>
          <p:nvPr>
            <p:ph type="body" sz="quarter" idx="12"/>
          </p:nvPr>
        </p:nvSpPr>
        <p:spPr/>
        <p:txBody>
          <a:bodyPr/>
          <a:lstStyle/>
          <a:p>
            <a:r>
              <a:rPr lang="en-US" sz="1400" b="1" dirty="0"/>
              <a:t>Runtime Demonstration of the Hotel Booking System</a:t>
            </a:r>
            <a:br>
              <a:rPr lang="en-US" sz="1400" dirty="0"/>
            </a:br>
            <a:r>
              <a:rPr lang="en-US" sz="1400" i="1" dirty="0"/>
              <a:t>Shows booking, search, and management features in console mode</a:t>
            </a:r>
            <a:endParaRPr lang="en-US" sz="1400" dirty="0"/>
          </a:p>
          <a:p>
            <a:r>
              <a:rPr lang="en-US" sz="1400" b="1" dirty="0"/>
              <a:t>System Running Result</a:t>
            </a:r>
            <a:br>
              <a:rPr lang="en-US" sz="1400" dirty="0"/>
            </a:br>
            <a:r>
              <a:rPr lang="en-US" sz="1400" i="1" dirty="0"/>
              <a:t>Main menu and booking operations in action</a:t>
            </a:r>
            <a:endParaRPr lang="en-US" sz="1400" dirty="0"/>
          </a:p>
          <a:p>
            <a:r>
              <a:rPr lang="en-US" sz="1400" b="1" dirty="0"/>
              <a:t>Program Execution (Run Output)</a:t>
            </a:r>
            <a:br>
              <a:rPr lang="en-US" sz="1400" dirty="0"/>
            </a:br>
            <a:r>
              <a:rPr lang="en-US" sz="1400" i="1" dirty="0"/>
              <a:t>Hotel Booking System Console Interface</a:t>
            </a:r>
            <a:endParaRPr lang="en-US" sz="1400" dirty="0"/>
          </a:p>
        </p:txBody>
      </p:sp>
      <p:sp>
        <p:nvSpPr>
          <p:cNvPr id="4" name="Title 3">
            <a:extLst>
              <a:ext uri="{FF2B5EF4-FFF2-40B4-BE49-F238E27FC236}">
                <a16:creationId xmlns:a16="http://schemas.microsoft.com/office/drawing/2014/main" id="{6B2B6AC1-3DAD-F287-6E40-7D0C3C73552D}"/>
              </a:ext>
            </a:extLst>
          </p:cNvPr>
          <p:cNvSpPr>
            <a:spLocks noGrp="1"/>
          </p:cNvSpPr>
          <p:nvPr>
            <p:ph type="title"/>
          </p:nvPr>
        </p:nvSpPr>
        <p:spPr>
          <a:xfrm>
            <a:off x="432000" y="578818"/>
            <a:ext cx="4664075" cy="1347437"/>
          </a:xfrm>
        </p:spPr>
        <p:txBody>
          <a:bodyPr/>
          <a:lstStyle/>
          <a:p>
            <a:r>
              <a:rPr lang="en-US" sz="3600" dirty="0"/>
              <a:t>Console Output Explanation:</a:t>
            </a:r>
          </a:p>
        </p:txBody>
      </p:sp>
      <p:sp>
        <p:nvSpPr>
          <p:cNvPr id="5" name="Rectangle 4">
            <a:extLst>
              <a:ext uri="{FF2B5EF4-FFF2-40B4-BE49-F238E27FC236}">
                <a16:creationId xmlns:a16="http://schemas.microsoft.com/office/drawing/2014/main" id="{09486A8D-10A0-1CA5-6171-CAD688D26451}"/>
              </a:ext>
            </a:extLst>
          </p:cNvPr>
          <p:cNvSpPr/>
          <p:nvPr/>
        </p:nvSpPr>
        <p:spPr>
          <a:xfrm>
            <a:off x="432000" y="6257925"/>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7502637"/>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4448-4930-46E0-AD53-50021D9DCF2B}"/>
              </a:ext>
            </a:extLst>
          </p:cNvPr>
          <p:cNvSpPr>
            <a:spLocks noGrp="1"/>
          </p:cNvSpPr>
          <p:nvPr>
            <p:ph type="title"/>
          </p:nvPr>
        </p:nvSpPr>
        <p:spPr/>
        <p:txBody>
          <a:bodyPr/>
          <a:lstStyle/>
          <a:p>
            <a:r>
              <a:rPr lang="en-US" sz="3600" dirty="0"/>
              <a:t>Conclusion</a:t>
            </a:r>
          </a:p>
          <a:p>
            <a:endParaRPr lang="en-US" sz="3600" dirty="0"/>
          </a:p>
        </p:txBody>
      </p:sp>
      <p:sp>
        <p:nvSpPr>
          <p:cNvPr id="3" name="Text Placeholder 2">
            <a:extLst>
              <a:ext uri="{FF2B5EF4-FFF2-40B4-BE49-F238E27FC236}">
                <a16:creationId xmlns:a16="http://schemas.microsoft.com/office/drawing/2014/main" id="{123F6824-E409-4436-9F53-FF50E9FB0CC0}"/>
              </a:ext>
            </a:extLst>
          </p:cNvPr>
          <p:cNvSpPr>
            <a:spLocks noGrp="1"/>
          </p:cNvSpPr>
          <p:nvPr>
            <p:ph type="body" sz="quarter" idx="10"/>
          </p:nvPr>
        </p:nvSpPr>
        <p:spPr>
          <a:xfrm>
            <a:off x="647701" y="2042790"/>
            <a:ext cx="4143374" cy="3632298"/>
          </a:xfrm>
        </p:spPr>
        <p:txBody>
          <a:bodyPr/>
          <a:lstStyle/>
          <a:p>
            <a:r>
              <a:rPr lang="en-US" sz="1200" dirty="0"/>
              <a:t>This Hotel Reservation System successfully demonstrates a complete and efficient solution for managing room bookings, cancellations, and availability tracking. It ensures data accuracy through strong validation of dates, room numbers, and booking constraints.</a:t>
            </a:r>
          </a:p>
          <a:p>
            <a:r>
              <a:rPr lang="en-US" sz="1200" dirty="0"/>
              <a:t>The system supports multiple room types, prevents overlapping reservations, and maintains persistent storage using file handling to preserve data between sessions. It also provides user-friendly search and filtering options to improve usability.</a:t>
            </a:r>
          </a:p>
          <a:p>
            <a:r>
              <a:rPr lang="en-US" sz="1200" dirty="0"/>
              <a:t>Overall, the project showcases the practical application of object-oriented programming, data structures, and file management in C++, delivering a reliable and scalable solution for real-world hotel management needs.</a:t>
            </a:r>
          </a:p>
          <a:p>
            <a:endParaRPr lang="en-US" sz="1200" dirty="0"/>
          </a:p>
          <a:p>
            <a:r>
              <a:rPr lang="en-US" sz="1200" dirty="0"/>
              <a:t>Special Thanks: I would like to express my sincere gratitude to </a:t>
            </a:r>
            <a:r>
              <a:rPr lang="en-US" sz="1200" dirty="0">
                <a:solidFill>
                  <a:srgbClr val="FA6F1A"/>
                </a:solidFill>
              </a:rPr>
              <a:t>Dr. Osama </a:t>
            </a:r>
            <a:r>
              <a:rPr lang="en-US" sz="1200" b="1" dirty="0">
                <a:solidFill>
                  <a:srgbClr val="FA6F1A"/>
                </a:solidFill>
              </a:rPr>
              <a:t>Ghoneim</a:t>
            </a:r>
            <a:r>
              <a:rPr lang="en-US" sz="1200" dirty="0"/>
              <a:t> and for </a:t>
            </a:r>
            <a:r>
              <a:rPr lang="en-US" sz="1200" b="1" dirty="0">
                <a:solidFill>
                  <a:srgbClr val="FA6F1A"/>
                </a:solidFill>
              </a:rPr>
              <a:t>Eng. Omar Khaled</a:t>
            </a:r>
            <a:r>
              <a:rPr lang="en-US" sz="1200" dirty="0"/>
              <a:t> their continuous support and guidance throughout this course.</a:t>
            </a:r>
          </a:p>
        </p:txBody>
      </p:sp>
      <p:pic>
        <p:nvPicPr>
          <p:cNvPr id="20" name="Picture Placeholder 8">
            <a:extLst>
              <a:ext uri="{FF2B5EF4-FFF2-40B4-BE49-F238E27FC236}">
                <a16:creationId xmlns:a16="http://schemas.microsoft.com/office/drawing/2014/main" id="{2EC47CED-7A85-4080-9C7C-3921E48924A7}"/>
              </a:ext>
            </a:extLst>
          </p:cNvPr>
          <p:cNvPicPr>
            <a:picLocks noGrp="1" noChangeAspect="1"/>
          </p:cNvPicPr>
          <p:nvPr>
            <p:ph type="pic" sz="quarter" idx="13"/>
          </p:nvPr>
        </p:nvPicPr>
        <p:blipFill>
          <a:blip r:embed="rId2"/>
          <a:srcRect l="-3164" t="-2907" r="-3164" b="-2907"/>
          <a:stretch>
            <a:fillRect/>
          </a:stretch>
        </p:blipFill>
        <p:spPr>
          <a:xfrm>
            <a:off x="5888038" y="533400"/>
            <a:ext cx="5541962" cy="561181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Rectangle 4">
            <a:extLst>
              <a:ext uri="{FF2B5EF4-FFF2-40B4-BE49-F238E27FC236}">
                <a16:creationId xmlns:a16="http://schemas.microsoft.com/office/drawing/2014/main" id="{86679F4B-0E55-9C0B-B636-4D246ED78F33}"/>
              </a:ext>
            </a:extLst>
          </p:cNvPr>
          <p:cNvSpPr/>
          <p:nvPr/>
        </p:nvSpPr>
        <p:spPr>
          <a:xfrm>
            <a:off x="432000" y="6257925"/>
            <a:ext cx="2073075" cy="4762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ack and orange logo&#10;&#10;AI-generated content may be incorrect.">
            <a:hlinkClick r:id="rId3"/>
            <a:extLst>
              <a:ext uri="{FF2B5EF4-FFF2-40B4-BE49-F238E27FC236}">
                <a16:creationId xmlns:a16="http://schemas.microsoft.com/office/drawing/2014/main" id="{22AE8DAF-6BA4-819F-4B81-9D863B5FD978}"/>
              </a:ext>
            </a:extLst>
          </p:cNvPr>
          <p:cNvPicPr>
            <a:picLocks noChangeAspect="1"/>
          </p:cNvPicPr>
          <p:nvPr/>
        </p:nvPicPr>
        <p:blipFill>
          <a:blip r:embed="rId4"/>
          <a:stretch>
            <a:fillRect/>
          </a:stretch>
        </p:blipFill>
        <p:spPr>
          <a:xfrm>
            <a:off x="142876" y="5675088"/>
            <a:ext cx="1543050" cy="1165674"/>
          </a:xfrm>
          <a:prstGeom prst="rect">
            <a:avLst/>
          </a:prstGeom>
        </p:spPr>
      </p:pic>
      <p:pic>
        <p:nvPicPr>
          <p:cNvPr id="8" name="Picture 7" descr="A black and orange logo&#10;&#10;AI-generated content may be incorrect.">
            <a:hlinkClick r:id="rId5"/>
            <a:extLst>
              <a:ext uri="{FF2B5EF4-FFF2-40B4-BE49-F238E27FC236}">
                <a16:creationId xmlns:a16="http://schemas.microsoft.com/office/drawing/2014/main" id="{2DE01D9B-4388-ECD6-8CDB-81970BFB4B79}"/>
              </a:ext>
            </a:extLst>
          </p:cNvPr>
          <p:cNvPicPr>
            <a:picLocks noChangeAspect="1"/>
          </p:cNvPicPr>
          <p:nvPr/>
        </p:nvPicPr>
        <p:blipFill>
          <a:blip r:embed="rId4"/>
          <a:stretch>
            <a:fillRect/>
          </a:stretch>
        </p:blipFill>
        <p:spPr>
          <a:xfrm>
            <a:off x="4552950" y="5675088"/>
            <a:ext cx="1543050" cy="1165674"/>
          </a:xfrm>
          <a:prstGeom prst="rect">
            <a:avLst/>
          </a:prstGeom>
        </p:spPr>
      </p:pic>
    </p:spTree>
    <p:extLst>
      <p:ext uri="{BB962C8B-B14F-4D97-AF65-F5344CB8AC3E}">
        <p14:creationId xmlns:p14="http://schemas.microsoft.com/office/powerpoint/2010/main" val="715534863"/>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1" name="Picture Placeholder 10" descr="Reflection of city at dusk on mirrored building">
            <a:extLst>
              <a:ext uri="{FF2B5EF4-FFF2-40B4-BE49-F238E27FC236}">
                <a16:creationId xmlns:a16="http://schemas.microsoft.com/office/drawing/2014/main" id="{80F641B8-D4CB-4B34-AF57-A526981DEDAF}"/>
              </a:ext>
            </a:extLst>
          </p:cNvPr>
          <p:cNvPicPr>
            <a:picLocks noGrp="1" noChangeAspect="1"/>
          </p:cNvPicPr>
          <p:nvPr>
            <p:ph type="pic" sz="quarter" idx="10"/>
          </p:nvPr>
        </p:nvPicPr>
        <p:blipFill>
          <a:blip r:embed="rId2">
            <a:alphaModFix amt="80000"/>
          </a:blip>
          <a:srcRect t="6692" b="6692"/>
          <a:stretch/>
        </p:blipFill>
        <p:spPr>
          <a:xfrm>
            <a:off x="-5606" y="0"/>
            <a:ext cx="12192000" cy="6858000"/>
          </a:xfrm>
        </p:spPr>
      </p:pic>
      <p:sp>
        <p:nvSpPr>
          <p:cNvPr id="7" name="Oval 6">
            <a:extLst>
              <a:ext uri="{FF2B5EF4-FFF2-40B4-BE49-F238E27FC236}">
                <a16:creationId xmlns:a16="http://schemas.microsoft.com/office/drawing/2014/main" id="{48461F53-81E4-4F48-8B4D-56B6013B1088}"/>
              </a:ext>
              <a:ext uri="{C183D7F6-B498-43B3-948B-1728B52AA6E4}">
                <adec:decorative xmlns:adec="http://schemas.microsoft.com/office/drawing/2017/decorative" val="1"/>
              </a:ext>
            </a:extLst>
          </p:cNvPr>
          <p:cNvSpPr/>
          <p:nvPr/>
        </p:nvSpPr>
        <p:spPr>
          <a:xfrm>
            <a:off x="3352800" y="685800"/>
            <a:ext cx="5577840" cy="5577840"/>
          </a:xfrm>
          <a:prstGeom prst="ellipse">
            <a:avLst/>
          </a:prstGeom>
          <a:blipFill dpi="0" rotWithShape="1">
            <a:blip r:embed="rId3"/>
            <a:srcRect/>
            <a:stretch>
              <a:fillRect l="-6558" t="-819" r="-4918" b="819"/>
            </a:stretch>
          </a:blip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C0CA4A65-0235-4CB2-B09E-4E2D8F223034}"/>
              </a:ext>
            </a:extLst>
          </p:cNvPr>
          <p:cNvSpPr>
            <a:spLocks noGrp="1"/>
          </p:cNvSpPr>
          <p:nvPr>
            <p:ph type="title"/>
          </p:nvPr>
        </p:nvSpPr>
        <p:spPr>
          <a:xfrm>
            <a:off x="4045678" y="2274444"/>
            <a:ext cx="4007183" cy="2374194"/>
          </a:xfrm>
        </p:spPr>
        <p:txBody>
          <a:bodyPr/>
          <a:lstStyle/>
          <a:p>
            <a:pPr rtl="0" eaLnBrk="1" latinLnBrk="0" hangingPunct="1"/>
            <a:r>
              <a:rPr lang="en-US" sz="8000" b="1" kern="1200" dirty="0">
                <a:solidFill>
                  <a:srgbClr val="FFFFFF"/>
                </a:solidFill>
                <a:effectLst/>
                <a:latin typeface="Calibri Light" panose="020F0302020204030204" pitchFamily="34" charset="0"/>
                <a:ea typeface="+mn-ea"/>
                <a:cs typeface="+mn-cs"/>
              </a:rPr>
              <a:t>Thank you</a:t>
            </a:r>
            <a:endParaRPr lang="en-US" sz="8000" b="1" dirty="0"/>
          </a:p>
        </p:txBody>
      </p:sp>
      <p:sp>
        <p:nvSpPr>
          <p:cNvPr id="2" name="Oval 1">
            <a:extLst>
              <a:ext uri="{FF2B5EF4-FFF2-40B4-BE49-F238E27FC236}">
                <a16:creationId xmlns:a16="http://schemas.microsoft.com/office/drawing/2014/main" id="{733AD71F-DA66-44DD-B812-447839E534FB}"/>
              </a:ext>
              <a:ext uri="{C183D7F6-B498-43B3-948B-1728B52AA6E4}">
                <adec:decorative xmlns:adec="http://schemas.microsoft.com/office/drawing/2017/decorative" val="1"/>
              </a:ext>
            </a:extLst>
          </p:cNvPr>
          <p:cNvSpPr/>
          <p:nvPr/>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Oval 2">
            <a:extLst>
              <a:ext uri="{FF2B5EF4-FFF2-40B4-BE49-F238E27FC236}">
                <a16:creationId xmlns:a16="http://schemas.microsoft.com/office/drawing/2014/main" id="{A7CF27D1-2BD8-40D7-A92B-834F8A4F76F0}"/>
              </a:ext>
              <a:ext uri="{C183D7F6-B498-43B3-948B-1728B52AA6E4}">
                <adec:decorative xmlns:adec="http://schemas.microsoft.com/office/drawing/2017/decorative" val="1"/>
              </a:ext>
            </a:extLst>
          </p:cNvPr>
          <p:cNvSpPr/>
          <p:nvPr/>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290F2B13-F976-4C2D-883C-E495CDF04ACA}"/>
              </a:ext>
              <a:ext uri="{C183D7F6-B498-43B3-948B-1728B52AA6E4}">
                <adec:decorative xmlns:adec="http://schemas.microsoft.com/office/drawing/2017/decorative" val="1"/>
              </a:ext>
            </a:extLst>
          </p:cNvPr>
          <p:cNvSpPr/>
          <p:nvPr/>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7">
            <a:extLst>
              <a:ext uri="{FF2B5EF4-FFF2-40B4-BE49-F238E27FC236}">
                <a16:creationId xmlns:a16="http://schemas.microsoft.com/office/drawing/2014/main" id="{17DE5458-0766-49A5-8982-EF9557A6BB94}"/>
              </a:ext>
            </a:extLst>
          </p:cNvPr>
          <p:cNvSpPr>
            <a:spLocks noGrp="1"/>
          </p:cNvSpPr>
          <p:nvPr>
            <p:ph type="body" sz="quarter" idx="11"/>
          </p:nvPr>
        </p:nvSpPr>
        <p:spPr/>
        <p:txBody>
          <a:bodyPr/>
          <a:lstStyle/>
          <a:p>
            <a:r>
              <a:rPr lang="en-US" dirty="0"/>
              <a:t>For your time</a:t>
            </a:r>
          </a:p>
        </p:txBody>
      </p:sp>
    </p:spTree>
    <p:extLst>
      <p:ext uri="{BB962C8B-B14F-4D97-AF65-F5344CB8AC3E}">
        <p14:creationId xmlns:p14="http://schemas.microsoft.com/office/powerpoint/2010/main" val="4101399790"/>
      </p:ext>
    </p:extLst>
  </p:cSld>
  <p:clrMapOvr>
    <a:masterClrMapping/>
  </p:clrMapOvr>
  <p:transition spd="slow">
    <p:push dir="u"/>
  </p:transition>
</p:sld>
</file>

<file path=ppt/theme/theme1.xml><?xml version="1.0" encoding="utf-8"?>
<a:theme xmlns:a="http://schemas.openxmlformats.org/drawingml/2006/main" name="Office Theme">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3_LW_v2" id="{C590A786-F65F-42F6-9E48-12C78E3C86B3}" vid="{FEE92C9D-6350-4ECD-87A4-004D12BB2B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Geometric presentation</Template>
  <TotalTime>352</TotalTime>
  <Words>1993</Words>
  <Application>Microsoft Office PowerPoint</Application>
  <PresentationFormat>Widescreen</PresentationFormat>
  <Paragraphs>169</Paragraphs>
  <Slides>17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Wingdings</vt:lpstr>
      <vt:lpstr>Office Theme</vt:lpstr>
      <vt:lpstr>Hotel Reservation System</vt:lpstr>
      <vt:lpstr>Team</vt:lpstr>
      <vt:lpstr>Introduction</vt:lpstr>
      <vt:lpstr>Code Explanation Block1(1-79):</vt:lpstr>
      <vt:lpstr>Code Explanation Block1(79-155):</vt:lpstr>
      <vt:lpstr>Console Output Explanation:</vt:lpstr>
      <vt:lpstr>Code Explanation Block2(156-196):</vt:lpstr>
      <vt:lpstr>Code Explanation Block2(197-297):</vt:lpstr>
      <vt:lpstr>Console Output Explanation:</vt:lpstr>
      <vt:lpstr>Code Explanation Block3(298-356):</vt:lpstr>
      <vt:lpstr>Code Explanation Block3(357-390):</vt:lpstr>
      <vt:lpstr>Console Output Explanation:</vt:lpstr>
      <vt:lpstr>Code Explanation Block3(392-548):</vt:lpstr>
      <vt:lpstr>Code Explanation Block3(549-554):</vt:lpstr>
      <vt:lpstr>Console Output Explanation:</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زياد محمود حمدى محمود الجوهرى</dc:creator>
  <cp:lastModifiedBy>زياد محمود حمدى محمود الجوهرى</cp:lastModifiedBy>
  <cp:revision>8</cp:revision>
  <dcterms:created xsi:type="dcterms:W3CDTF">2025-12-22T20:58:27Z</dcterms:created>
  <dcterms:modified xsi:type="dcterms:W3CDTF">2026-05-02T09:44:06Z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